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  <p:sldMasterId id="214748369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Instrument Sans Medium"/>
      <p:regular r:id="rId25"/>
      <p:bold r:id="rId26"/>
      <p:italic r:id="rId27"/>
      <p:boldItalic r:id="rId28"/>
    </p:embeddedFont>
    <p:embeddedFont>
      <p:font typeface="Instrument Sans SemiBold"/>
      <p:regular r:id="rId29"/>
      <p:bold r:id="rId30"/>
      <p:italic r:id="rId31"/>
      <p:boldItalic r:id="rId32"/>
    </p:embeddedFont>
    <p:embeddedFont>
      <p:font typeface="Average"/>
      <p:regular r:id="rId33"/>
    </p:embeddedFont>
    <p:embeddedFont>
      <p:font typeface="Instrument Sans"/>
      <p:regular r:id="rId34"/>
      <p:bold r:id="rId35"/>
      <p:italic r:id="rId36"/>
      <p:boldItalic r:id="rId37"/>
    </p:embeddedFont>
    <p:embeddedFont>
      <p:font typeface="Tomorrow Medium"/>
      <p:regular r:id="rId38"/>
      <p:bold r:id="rId39"/>
      <p:italic r:id="rId40"/>
      <p:boldItalic r:id="rId41"/>
    </p:embeddedFont>
    <p:embeddedFont>
      <p:font typeface="Oswald"/>
      <p:regular r:id="rId42"/>
      <p:bold r:id="rId43"/>
    </p:embeddedFont>
    <p:embeddedFont>
      <p:font typeface="Tomorrow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TomorrowMedium-italic.fntdata"/><Relationship Id="rId20" Type="http://schemas.openxmlformats.org/officeDocument/2006/relationships/slide" Target="slides/slide14.xml"/><Relationship Id="rId42" Type="http://schemas.openxmlformats.org/officeDocument/2006/relationships/font" Target="fonts/Oswald-regular.fntdata"/><Relationship Id="rId41" Type="http://schemas.openxmlformats.org/officeDocument/2006/relationships/font" Target="fonts/TomorrowMedium-boldItalic.fntdata"/><Relationship Id="rId22" Type="http://schemas.openxmlformats.org/officeDocument/2006/relationships/slide" Target="slides/slide16.xml"/><Relationship Id="rId44" Type="http://schemas.openxmlformats.org/officeDocument/2006/relationships/font" Target="fonts/Tomorrow-regular.fntdata"/><Relationship Id="rId21" Type="http://schemas.openxmlformats.org/officeDocument/2006/relationships/slide" Target="slides/slide15.xml"/><Relationship Id="rId43" Type="http://schemas.openxmlformats.org/officeDocument/2006/relationships/font" Target="fonts/Oswald-bold.fntdata"/><Relationship Id="rId24" Type="http://schemas.openxmlformats.org/officeDocument/2006/relationships/slide" Target="slides/slide18.xml"/><Relationship Id="rId46" Type="http://schemas.openxmlformats.org/officeDocument/2006/relationships/font" Target="fonts/Tomorrow-italic.fntdata"/><Relationship Id="rId23" Type="http://schemas.openxmlformats.org/officeDocument/2006/relationships/slide" Target="slides/slide17.xml"/><Relationship Id="rId45" Type="http://schemas.openxmlformats.org/officeDocument/2006/relationships/font" Target="fonts/Tomorrow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nstrumentSansMedium-bold.fntdata"/><Relationship Id="rId25" Type="http://schemas.openxmlformats.org/officeDocument/2006/relationships/font" Target="fonts/InstrumentSansMedium-regular.fntdata"/><Relationship Id="rId47" Type="http://schemas.openxmlformats.org/officeDocument/2006/relationships/font" Target="fonts/Tomorrow-boldItalic.fntdata"/><Relationship Id="rId28" Type="http://schemas.openxmlformats.org/officeDocument/2006/relationships/font" Target="fonts/InstrumentSansMedium-boldItalic.fntdata"/><Relationship Id="rId27" Type="http://schemas.openxmlformats.org/officeDocument/2006/relationships/font" Target="fonts/InstrumentSansMedium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InstrumentSans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strumentSansSemiBold-italic.fntdata"/><Relationship Id="rId30" Type="http://schemas.openxmlformats.org/officeDocument/2006/relationships/font" Target="fonts/InstrumentSansSemiBold-bold.fntdata"/><Relationship Id="rId11" Type="http://schemas.openxmlformats.org/officeDocument/2006/relationships/slide" Target="slides/slide5.xml"/><Relationship Id="rId33" Type="http://schemas.openxmlformats.org/officeDocument/2006/relationships/font" Target="fonts/Average-regular.fntdata"/><Relationship Id="rId10" Type="http://schemas.openxmlformats.org/officeDocument/2006/relationships/slide" Target="slides/slide4.xml"/><Relationship Id="rId32" Type="http://schemas.openxmlformats.org/officeDocument/2006/relationships/font" Target="fonts/InstrumentSansSemiBold-boldItalic.fntdata"/><Relationship Id="rId13" Type="http://schemas.openxmlformats.org/officeDocument/2006/relationships/slide" Target="slides/slide7.xml"/><Relationship Id="rId35" Type="http://schemas.openxmlformats.org/officeDocument/2006/relationships/font" Target="fonts/InstrumentSans-bold.fntdata"/><Relationship Id="rId12" Type="http://schemas.openxmlformats.org/officeDocument/2006/relationships/slide" Target="slides/slide6.xml"/><Relationship Id="rId34" Type="http://schemas.openxmlformats.org/officeDocument/2006/relationships/font" Target="fonts/InstrumentSans-regular.fntdata"/><Relationship Id="rId15" Type="http://schemas.openxmlformats.org/officeDocument/2006/relationships/slide" Target="slides/slide9.xml"/><Relationship Id="rId37" Type="http://schemas.openxmlformats.org/officeDocument/2006/relationships/font" Target="fonts/InstrumentSans-boldItalic.fntdata"/><Relationship Id="rId14" Type="http://schemas.openxmlformats.org/officeDocument/2006/relationships/slide" Target="slides/slide8.xml"/><Relationship Id="rId36" Type="http://schemas.openxmlformats.org/officeDocument/2006/relationships/font" Target="fonts/InstrumentSans-italic.fntdata"/><Relationship Id="rId17" Type="http://schemas.openxmlformats.org/officeDocument/2006/relationships/slide" Target="slides/slide11.xml"/><Relationship Id="rId39" Type="http://schemas.openxmlformats.org/officeDocument/2006/relationships/font" Target="fonts/TomorrowMedium-bold.fntdata"/><Relationship Id="rId16" Type="http://schemas.openxmlformats.org/officeDocument/2006/relationships/slide" Target="slides/slide10.xml"/><Relationship Id="rId38" Type="http://schemas.openxmlformats.org/officeDocument/2006/relationships/font" Target="fonts/TomorrowMedium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dc8aa24f00_0_10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dc8aa24f00_0_1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c8aa24f00_0_1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dc8aa24f00_0_1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dc8aa24f00_0_1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dc8aa24f00_0_1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dc8aa24f00_0_1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dc8aa24f00_0_1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9690ffb45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9690ffb45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9690ffb45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9690ffb45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9690ffb456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9690ffb456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 resource: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 &amp; experience req:</a:t>
            </a:r>
            <a:br>
              <a:rPr lang="en"/>
            </a:br>
            <a:r>
              <a:rPr lang="en"/>
              <a:t>technical skills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Policy</a:t>
            </a:r>
            <a:r>
              <a:rPr lang="en"/>
              <a:t> knowledge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budget requirements: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9690ffb456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9690ffb456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9690ffb456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9690ffb456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9690ffb456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9690ffb456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9690ffb456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9690ffb456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 iitb website vulnerability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asc non admin users are used by staff for normal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 server </a:t>
            </a:r>
            <a:r>
              <a:rPr lang="en"/>
              <a:t>access</a:t>
            </a:r>
            <a:r>
              <a:rPr lang="en"/>
              <a:t> is being handled by designated employee only with designated credentials.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Logs are properly maintained. (dumped and </a:t>
            </a:r>
            <a:r>
              <a:rPr lang="en"/>
              <a:t>transferred</a:t>
            </a:r>
            <a:r>
              <a:rPr lang="en"/>
              <a:t> to academic office)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9690ffb456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9690ffb456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dca20279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dca20279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dca202797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dca202797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dca202797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dca202797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dca202797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dca202797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dc8aa24f00_0_1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dc8aa24f00_0_1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dc8aa24f00_0_1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dc8aa24f00_0_1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ird’s-eye shot of a cargo ship crossing an ocean. " id="59" name="Google Shape;59;p14"/>
          <p:cNvPicPr preferRelativeResize="0"/>
          <p:nvPr/>
        </p:nvPicPr>
        <p:blipFill rotWithShape="1">
          <a:blip r:embed="rId2">
            <a:alphaModFix/>
          </a:blip>
          <a:srcRect b="28438" l="17121" r="682" t="2152"/>
          <a:stretch/>
        </p:blipFill>
        <p:spPr>
          <a:xfrm flipH="1">
            <a:off x="99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/>
          <p:nvPr/>
        </p:nvSpPr>
        <p:spPr>
          <a:xfrm>
            <a:off x="100" y="3220225"/>
            <a:ext cx="9144000" cy="1923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lt1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strument Sans"/>
                <a:ea typeface="Instrument Sans"/>
                <a:cs typeface="Instrument Sans"/>
                <a:sym typeface="Instrument Sans"/>
              </a:rPr>
              <a:t>\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96175" y="62106"/>
            <a:ext cx="66837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1545800" y="1715650"/>
            <a:ext cx="11634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2" type="subTitle"/>
          </p:nvPr>
        </p:nvSpPr>
        <p:spPr>
          <a:xfrm>
            <a:off x="279900" y="1715650"/>
            <a:ext cx="11634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3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4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5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alt">
  <p:cSld name="BLANK_1_1_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 flipH="1" rot="10800000">
            <a:off x="228600" y="220050"/>
            <a:ext cx="8686800" cy="4483200"/>
          </a:xfrm>
          <a:prstGeom prst="snip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9" name="Google Shape;69;p15"/>
          <p:cNvSpPr/>
          <p:nvPr/>
        </p:nvSpPr>
        <p:spPr>
          <a:xfrm rot="5400000">
            <a:off x="370200" y="794816"/>
            <a:ext cx="449400" cy="340800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896455" y="662381"/>
            <a:ext cx="5642100" cy="94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424500" y="415950"/>
            <a:ext cx="2427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2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3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4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459900" y="423850"/>
            <a:ext cx="4484400" cy="27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2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3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1">
  <p:cSld name="BLANK_1_1_1_1_1_2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459900" y="423850"/>
            <a:ext cx="4484400" cy="27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82" name="Google Shape;82;p17"/>
          <p:cNvSpPr txBox="1"/>
          <p:nvPr>
            <p:ph idx="1" type="subTitle"/>
          </p:nvPr>
        </p:nvSpPr>
        <p:spPr>
          <a:xfrm>
            <a:off x="1894014" y="1632200"/>
            <a:ext cx="1723800" cy="44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2" type="subTitle"/>
          </p:nvPr>
        </p:nvSpPr>
        <p:spPr>
          <a:xfrm>
            <a:off x="1958101" y="2362150"/>
            <a:ext cx="16056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84" name="Google Shape;84;p17"/>
          <p:cNvSpPr txBox="1"/>
          <p:nvPr>
            <p:ph idx="3" type="subTitle"/>
          </p:nvPr>
        </p:nvSpPr>
        <p:spPr>
          <a:xfrm>
            <a:off x="5787814" y="1632200"/>
            <a:ext cx="17238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5" name="Google Shape;85;p17"/>
          <p:cNvSpPr txBox="1"/>
          <p:nvPr>
            <p:ph idx="4" type="subTitle"/>
          </p:nvPr>
        </p:nvSpPr>
        <p:spPr>
          <a:xfrm>
            <a:off x="3095188" y="3386700"/>
            <a:ext cx="1723800" cy="44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6" name="Google Shape;86;p17"/>
          <p:cNvSpPr txBox="1"/>
          <p:nvPr>
            <p:ph idx="5" type="subTitle"/>
          </p:nvPr>
        </p:nvSpPr>
        <p:spPr>
          <a:xfrm>
            <a:off x="6974688" y="3386700"/>
            <a:ext cx="1723800" cy="44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7" name="Google Shape;87;p17"/>
          <p:cNvSpPr txBox="1"/>
          <p:nvPr>
            <p:ph idx="6" type="subTitle"/>
          </p:nvPr>
        </p:nvSpPr>
        <p:spPr>
          <a:xfrm>
            <a:off x="5855351" y="2362150"/>
            <a:ext cx="16056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88" name="Google Shape;88;p17"/>
          <p:cNvSpPr txBox="1"/>
          <p:nvPr>
            <p:ph idx="7" type="subTitle"/>
          </p:nvPr>
        </p:nvSpPr>
        <p:spPr>
          <a:xfrm>
            <a:off x="3162700" y="4116600"/>
            <a:ext cx="16056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89" name="Google Shape;89;p17"/>
          <p:cNvSpPr txBox="1"/>
          <p:nvPr>
            <p:ph idx="8" type="subTitle"/>
          </p:nvPr>
        </p:nvSpPr>
        <p:spPr>
          <a:xfrm>
            <a:off x="7052650" y="4116600"/>
            <a:ext cx="16056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90" name="Google Shape;90;p17"/>
          <p:cNvSpPr txBox="1"/>
          <p:nvPr>
            <p:ph idx="9" type="subTitle"/>
          </p:nvPr>
        </p:nvSpPr>
        <p:spPr>
          <a:xfrm>
            <a:off x="228600" y="220050"/>
            <a:ext cx="2427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91" name="Google Shape;91;p17"/>
          <p:cNvSpPr/>
          <p:nvPr/>
        </p:nvSpPr>
        <p:spPr>
          <a:xfrm rot="5400000">
            <a:off x="216900" y="486850"/>
            <a:ext cx="170400" cy="1470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2" name="Google Shape;92;p17"/>
          <p:cNvSpPr/>
          <p:nvPr>
            <p:ph idx="13" type="pic"/>
          </p:nvPr>
        </p:nvSpPr>
        <p:spPr>
          <a:xfrm>
            <a:off x="228600" y="1488950"/>
            <a:ext cx="1459800" cy="14598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17"/>
          <p:cNvSpPr/>
          <p:nvPr>
            <p:ph idx="14" type="pic"/>
          </p:nvPr>
        </p:nvSpPr>
        <p:spPr>
          <a:xfrm>
            <a:off x="4108150" y="1488950"/>
            <a:ext cx="1459800" cy="14598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7"/>
          <p:cNvSpPr/>
          <p:nvPr>
            <p:ph idx="15" type="pic"/>
          </p:nvPr>
        </p:nvSpPr>
        <p:spPr>
          <a:xfrm>
            <a:off x="1431424" y="3243450"/>
            <a:ext cx="1459800" cy="14598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7"/>
          <p:cNvSpPr/>
          <p:nvPr>
            <p:ph idx="16" type="pic"/>
          </p:nvPr>
        </p:nvSpPr>
        <p:spPr>
          <a:xfrm>
            <a:off x="5310924" y="3243450"/>
            <a:ext cx="1459800" cy="14598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17"/>
          <p:cNvSpPr txBox="1"/>
          <p:nvPr>
            <p:ph idx="17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  <p:sp>
        <p:nvSpPr>
          <p:cNvPr id="97" name="Google Shape;97;p17"/>
          <p:cNvSpPr txBox="1"/>
          <p:nvPr>
            <p:ph idx="18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  <p:sp>
        <p:nvSpPr>
          <p:cNvPr id="98" name="Google Shape;98;p17"/>
          <p:cNvSpPr txBox="1"/>
          <p:nvPr>
            <p:ph idx="19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3">
  <p:cSld name="BLANK_1_1_1_1_1_2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idx="1" type="subTitle"/>
          </p:nvPr>
        </p:nvSpPr>
        <p:spPr>
          <a:xfrm>
            <a:off x="2062075" y="1327475"/>
            <a:ext cx="2301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1" name="Google Shape;101;p18"/>
          <p:cNvSpPr txBox="1"/>
          <p:nvPr>
            <p:ph idx="2" type="body"/>
          </p:nvPr>
        </p:nvSpPr>
        <p:spPr>
          <a:xfrm>
            <a:off x="2065375" y="1844475"/>
            <a:ext cx="23010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9pPr>
          </a:lstStyle>
          <a:p/>
        </p:txBody>
      </p:sp>
      <p:sp>
        <p:nvSpPr>
          <p:cNvPr id="102" name="Google Shape;102;p18"/>
          <p:cNvSpPr txBox="1"/>
          <p:nvPr>
            <p:ph idx="3" type="subTitle"/>
          </p:nvPr>
        </p:nvSpPr>
        <p:spPr>
          <a:xfrm>
            <a:off x="6405875" y="1318350"/>
            <a:ext cx="2301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3" name="Google Shape;103;p18"/>
          <p:cNvSpPr txBox="1"/>
          <p:nvPr>
            <p:ph idx="4" type="body"/>
          </p:nvPr>
        </p:nvSpPr>
        <p:spPr>
          <a:xfrm>
            <a:off x="6409175" y="1835350"/>
            <a:ext cx="23010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9pPr>
          </a:lstStyle>
          <a:p/>
        </p:txBody>
      </p:sp>
      <p:sp>
        <p:nvSpPr>
          <p:cNvPr id="104" name="Google Shape;104;p18"/>
          <p:cNvSpPr txBox="1"/>
          <p:nvPr>
            <p:ph type="title"/>
          </p:nvPr>
        </p:nvSpPr>
        <p:spPr>
          <a:xfrm>
            <a:off x="459900" y="423850"/>
            <a:ext cx="4484400" cy="27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05" name="Google Shape;105;p18"/>
          <p:cNvSpPr txBox="1"/>
          <p:nvPr>
            <p:ph idx="5" type="subTitle"/>
          </p:nvPr>
        </p:nvSpPr>
        <p:spPr>
          <a:xfrm>
            <a:off x="228600" y="220050"/>
            <a:ext cx="2427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106" name="Google Shape;106;p18"/>
          <p:cNvSpPr/>
          <p:nvPr/>
        </p:nvSpPr>
        <p:spPr>
          <a:xfrm rot="5400000">
            <a:off x="216900" y="486850"/>
            <a:ext cx="170400" cy="1470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7" name="Google Shape;107;p18"/>
          <p:cNvSpPr/>
          <p:nvPr>
            <p:ph idx="6" type="pic"/>
          </p:nvPr>
        </p:nvSpPr>
        <p:spPr>
          <a:xfrm>
            <a:off x="404450" y="1271375"/>
            <a:ext cx="1452000" cy="1452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8" name="Google Shape;108;p18"/>
          <p:cNvSpPr/>
          <p:nvPr>
            <p:ph idx="7" type="pic"/>
          </p:nvPr>
        </p:nvSpPr>
        <p:spPr>
          <a:xfrm>
            <a:off x="4748363" y="1271375"/>
            <a:ext cx="1452000" cy="1452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9" name="Google Shape;109;p18"/>
          <p:cNvSpPr/>
          <p:nvPr>
            <p:ph idx="8" type="pic"/>
          </p:nvPr>
        </p:nvSpPr>
        <p:spPr>
          <a:xfrm>
            <a:off x="4748338" y="3075225"/>
            <a:ext cx="1452000" cy="1452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0" name="Google Shape;110;p18"/>
          <p:cNvSpPr/>
          <p:nvPr>
            <p:ph idx="9" type="pic"/>
          </p:nvPr>
        </p:nvSpPr>
        <p:spPr>
          <a:xfrm>
            <a:off x="404438" y="3075300"/>
            <a:ext cx="1452000" cy="1452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1" name="Google Shape;111;p18"/>
          <p:cNvSpPr txBox="1"/>
          <p:nvPr>
            <p:ph idx="13" type="subTitle"/>
          </p:nvPr>
        </p:nvSpPr>
        <p:spPr>
          <a:xfrm>
            <a:off x="6405875" y="3122200"/>
            <a:ext cx="2301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2" name="Google Shape;112;p18"/>
          <p:cNvSpPr txBox="1"/>
          <p:nvPr>
            <p:ph idx="14" type="body"/>
          </p:nvPr>
        </p:nvSpPr>
        <p:spPr>
          <a:xfrm>
            <a:off x="6409175" y="3639200"/>
            <a:ext cx="23010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9pPr>
          </a:lstStyle>
          <a:p/>
        </p:txBody>
      </p:sp>
      <p:sp>
        <p:nvSpPr>
          <p:cNvPr id="113" name="Google Shape;113;p18"/>
          <p:cNvSpPr txBox="1"/>
          <p:nvPr>
            <p:ph idx="15" type="subTitle"/>
          </p:nvPr>
        </p:nvSpPr>
        <p:spPr>
          <a:xfrm>
            <a:off x="2062075" y="3122200"/>
            <a:ext cx="2301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16" type="body"/>
          </p:nvPr>
        </p:nvSpPr>
        <p:spPr>
          <a:xfrm>
            <a:off x="2065375" y="3639200"/>
            <a:ext cx="23010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9pPr>
          </a:lstStyle>
          <a:p/>
        </p:txBody>
      </p:sp>
      <p:sp>
        <p:nvSpPr>
          <p:cNvPr id="115" name="Google Shape;115;p18"/>
          <p:cNvSpPr txBox="1"/>
          <p:nvPr>
            <p:ph idx="17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  <p:sp>
        <p:nvSpPr>
          <p:cNvPr id="116" name="Google Shape;116;p18"/>
          <p:cNvSpPr txBox="1"/>
          <p:nvPr>
            <p:ph idx="18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  <p:sp>
        <p:nvSpPr>
          <p:cNvPr id="117" name="Google Shape;117;p18"/>
          <p:cNvSpPr txBox="1"/>
          <p:nvPr>
            <p:ph idx="19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oup activity">
  <p:cSld name="BLANK_1_1_1_1_1_2_1_2">
    <p:bg>
      <p:bgPr>
        <a:solidFill>
          <a:schemeClr val="dk2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459900" y="423850"/>
            <a:ext cx="4484400" cy="27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20" name="Google Shape;120;p19"/>
          <p:cNvSpPr txBox="1"/>
          <p:nvPr>
            <p:ph idx="1" type="subTitle"/>
          </p:nvPr>
        </p:nvSpPr>
        <p:spPr>
          <a:xfrm>
            <a:off x="228600" y="220050"/>
            <a:ext cx="2427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121" name="Google Shape;121;p19"/>
          <p:cNvSpPr/>
          <p:nvPr/>
        </p:nvSpPr>
        <p:spPr>
          <a:xfrm rot="5400000">
            <a:off x="216900" y="486850"/>
            <a:ext cx="170400" cy="1470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2" name="Google Shape;122;p19"/>
          <p:cNvSpPr txBox="1"/>
          <p:nvPr>
            <p:ph idx="2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  <p:sp>
        <p:nvSpPr>
          <p:cNvPr id="123" name="Google Shape;123;p19"/>
          <p:cNvSpPr txBox="1"/>
          <p:nvPr>
            <p:ph idx="3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  <p:sp>
        <p:nvSpPr>
          <p:cNvPr id="124" name="Google Shape;124;p19"/>
          <p:cNvSpPr txBox="1"/>
          <p:nvPr>
            <p:ph idx="4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quote">
  <p:cSld name="BLANK_1_1_1_1_1_2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/>
          <p:nvPr>
            <p:ph idx="2" type="pic"/>
          </p:nvPr>
        </p:nvSpPr>
        <p:spPr>
          <a:xfrm>
            <a:off x="228600" y="220050"/>
            <a:ext cx="4333500" cy="44832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0"/>
          <p:cNvSpPr/>
          <p:nvPr/>
        </p:nvSpPr>
        <p:spPr>
          <a:xfrm>
            <a:off x="4561975" y="682350"/>
            <a:ext cx="4353300" cy="4020900"/>
          </a:xfrm>
          <a:prstGeom prst="snip2DiagRect">
            <a:avLst>
              <a:gd fmla="val 0" name="adj1"/>
              <a:gd fmla="val 12191" name="adj2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8" name="Google Shape;128;p20"/>
          <p:cNvSpPr txBox="1"/>
          <p:nvPr>
            <p:ph type="title"/>
          </p:nvPr>
        </p:nvSpPr>
        <p:spPr>
          <a:xfrm>
            <a:off x="4971925" y="2480100"/>
            <a:ext cx="3533400" cy="27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29" name="Google Shape;129;p20"/>
          <p:cNvSpPr txBox="1"/>
          <p:nvPr>
            <p:ph idx="1" type="subTitle"/>
          </p:nvPr>
        </p:nvSpPr>
        <p:spPr>
          <a:xfrm>
            <a:off x="4971925" y="358800"/>
            <a:ext cx="18603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Tomorrow"/>
                <a:ea typeface="Tomorrow"/>
                <a:cs typeface="Tomorrow"/>
                <a:sym typeface="Tomo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130" name="Google Shape;130;p20"/>
          <p:cNvSpPr txBox="1"/>
          <p:nvPr>
            <p:ph idx="3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  <p:sp>
        <p:nvSpPr>
          <p:cNvPr id="131" name="Google Shape;131;p20"/>
          <p:cNvSpPr txBox="1"/>
          <p:nvPr>
            <p:ph idx="4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  <p:sp>
        <p:nvSpPr>
          <p:cNvPr id="132" name="Google Shape;132;p20"/>
          <p:cNvSpPr txBox="1"/>
          <p:nvPr>
            <p:ph idx="5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_1">
    <p:bg>
      <p:bgPr>
        <a:solidFill>
          <a:schemeClr val="dk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228600" y="354100"/>
            <a:ext cx="85746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0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0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0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0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0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0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0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0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0800"/>
            </a:lvl9pPr>
          </a:lstStyle>
          <a:p/>
        </p:txBody>
      </p:sp>
      <p:sp>
        <p:nvSpPr>
          <p:cNvPr id="135" name="Google Shape;135;p21"/>
          <p:cNvSpPr txBox="1"/>
          <p:nvPr>
            <p:ph idx="1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  <p:sp>
        <p:nvSpPr>
          <p:cNvPr id="136" name="Google Shape;136;p21"/>
          <p:cNvSpPr txBox="1"/>
          <p:nvPr>
            <p:ph idx="2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  <p:sp>
        <p:nvSpPr>
          <p:cNvPr id="137" name="Google Shape;137;p21"/>
          <p:cNvSpPr txBox="1"/>
          <p:nvPr>
            <p:ph idx="3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">
  <p:cSld name="BLANK_1_1_1_1_1_1_1_1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/>
          <p:nvPr>
            <p:ph idx="2" type="pic"/>
          </p:nvPr>
        </p:nvSpPr>
        <p:spPr>
          <a:xfrm>
            <a:off x="228600" y="220050"/>
            <a:ext cx="8686800" cy="44664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22"/>
          <p:cNvSpPr txBox="1"/>
          <p:nvPr>
            <p:ph type="title"/>
          </p:nvPr>
        </p:nvSpPr>
        <p:spPr>
          <a:xfrm>
            <a:off x="1734575" y="975090"/>
            <a:ext cx="5674800" cy="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41" name="Google Shape;141;p22"/>
          <p:cNvSpPr txBox="1"/>
          <p:nvPr>
            <p:ph idx="1" type="subTitle"/>
          </p:nvPr>
        </p:nvSpPr>
        <p:spPr>
          <a:xfrm>
            <a:off x="2162400" y="1618675"/>
            <a:ext cx="4819200" cy="27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42" name="Google Shape;142;p22"/>
          <p:cNvSpPr txBox="1"/>
          <p:nvPr>
            <p:ph idx="3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  <p:sp>
        <p:nvSpPr>
          <p:cNvPr id="143" name="Google Shape;143;p22"/>
          <p:cNvSpPr txBox="1"/>
          <p:nvPr>
            <p:ph idx="4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  <p:sp>
        <p:nvSpPr>
          <p:cNvPr id="144" name="Google Shape;144;p22"/>
          <p:cNvSpPr txBox="1"/>
          <p:nvPr>
            <p:ph idx="5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BLANK_1_1_1_1_1_1_1_1_2_1">
    <p:bg>
      <p:bgPr>
        <a:solidFill>
          <a:schemeClr val="dk2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459900" y="423850"/>
            <a:ext cx="4484400" cy="27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47" name="Google Shape;147;p23"/>
          <p:cNvSpPr txBox="1"/>
          <p:nvPr>
            <p:ph idx="1" type="subTitle"/>
          </p:nvPr>
        </p:nvSpPr>
        <p:spPr>
          <a:xfrm>
            <a:off x="228600" y="220050"/>
            <a:ext cx="2427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2" type="subTitle"/>
          </p:nvPr>
        </p:nvSpPr>
        <p:spPr>
          <a:xfrm>
            <a:off x="937025" y="1371275"/>
            <a:ext cx="27093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9pPr>
          </a:lstStyle>
          <a:p/>
        </p:txBody>
      </p:sp>
      <p:sp>
        <p:nvSpPr>
          <p:cNvPr id="149" name="Google Shape;149;p23"/>
          <p:cNvSpPr txBox="1"/>
          <p:nvPr>
            <p:ph idx="3" type="subTitle"/>
          </p:nvPr>
        </p:nvSpPr>
        <p:spPr>
          <a:xfrm>
            <a:off x="228600" y="1297725"/>
            <a:ext cx="5049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150" name="Google Shape;150;p23"/>
          <p:cNvSpPr txBox="1"/>
          <p:nvPr>
            <p:ph idx="4" type="body"/>
          </p:nvPr>
        </p:nvSpPr>
        <p:spPr>
          <a:xfrm>
            <a:off x="4652850" y="1371275"/>
            <a:ext cx="4260000" cy="53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9pPr>
          </a:lstStyle>
          <a:p/>
        </p:txBody>
      </p:sp>
      <p:sp>
        <p:nvSpPr>
          <p:cNvPr id="151" name="Google Shape;151;p23"/>
          <p:cNvSpPr txBox="1"/>
          <p:nvPr>
            <p:ph idx="5" type="subTitle"/>
          </p:nvPr>
        </p:nvSpPr>
        <p:spPr>
          <a:xfrm>
            <a:off x="935663" y="2274363"/>
            <a:ext cx="27093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6" type="subTitle"/>
          </p:nvPr>
        </p:nvSpPr>
        <p:spPr>
          <a:xfrm>
            <a:off x="227238" y="2200813"/>
            <a:ext cx="5049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7" type="body"/>
          </p:nvPr>
        </p:nvSpPr>
        <p:spPr>
          <a:xfrm>
            <a:off x="4651488" y="2274363"/>
            <a:ext cx="4260000" cy="53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9pPr>
          </a:lstStyle>
          <a:p/>
        </p:txBody>
      </p:sp>
      <p:sp>
        <p:nvSpPr>
          <p:cNvPr id="154" name="Google Shape;154;p23"/>
          <p:cNvSpPr txBox="1"/>
          <p:nvPr>
            <p:ph idx="8" type="subTitle"/>
          </p:nvPr>
        </p:nvSpPr>
        <p:spPr>
          <a:xfrm>
            <a:off x="935650" y="3177450"/>
            <a:ext cx="27093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9pPr>
          </a:lstStyle>
          <a:p/>
        </p:txBody>
      </p:sp>
      <p:sp>
        <p:nvSpPr>
          <p:cNvPr id="155" name="Google Shape;155;p23"/>
          <p:cNvSpPr txBox="1"/>
          <p:nvPr>
            <p:ph idx="9" type="subTitle"/>
          </p:nvPr>
        </p:nvSpPr>
        <p:spPr>
          <a:xfrm>
            <a:off x="227225" y="3103900"/>
            <a:ext cx="5049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3" type="body"/>
          </p:nvPr>
        </p:nvSpPr>
        <p:spPr>
          <a:xfrm>
            <a:off x="4651475" y="3177450"/>
            <a:ext cx="4260000" cy="53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9pPr>
          </a:lstStyle>
          <a:p/>
        </p:txBody>
      </p:sp>
      <p:sp>
        <p:nvSpPr>
          <p:cNvPr id="157" name="Google Shape;157;p23"/>
          <p:cNvSpPr txBox="1"/>
          <p:nvPr>
            <p:ph idx="14" type="subTitle"/>
          </p:nvPr>
        </p:nvSpPr>
        <p:spPr>
          <a:xfrm>
            <a:off x="935663" y="4080550"/>
            <a:ext cx="27093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idx="15" type="subTitle"/>
          </p:nvPr>
        </p:nvSpPr>
        <p:spPr>
          <a:xfrm>
            <a:off x="227238" y="4007000"/>
            <a:ext cx="5049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159" name="Google Shape;159;p23"/>
          <p:cNvSpPr txBox="1"/>
          <p:nvPr>
            <p:ph idx="16" type="body"/>
          </p:nvPr>
        </p:nvSpPr>
        <p:spPr>
          <a:xfrm>
            <a:off x="4651488" y="4080550"/>
            <a:ext cx="4260000" cy="53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9pPr>
          </a:lstStyle>
          <a:p/>
        </p:txBody>
      </p:sp>
      <p:sp>
        <p:nvSpPr>
          <p:cNvPr id="160" name="Google Shape;160;p23"/>
          <p:cNvSpPr txBox="1"/>
          <p:nvPr>
            <p:ph idx="17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  <p:sp>
        <p:nvSpPr>
          <p:cNvPr id="161" name="Google Shape;161;p23"/>
          <p:cNvSpPr txBox="1"/>
          <p:nvPr>
            <p:ph idx="18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  <p:sp>
        <p:nvSpPr>
          <p:cNvPr id="162" name="Google Shape;162;p23"/>
          <p:cNvSpPr txBox="1"/>
          <p:nvPr>
            <p:ph idx="19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1">
  <p:cSld name="BLANK_1_1_1_1_1_1_1_1_2_1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/>
          <p:nvPr/>
        </p:nvSpPr>
        <p:spPr>
          <a:xfrm>
            <a:off x="228575" y="220050"/>
            <a:ext cx="8686800" cy="44832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5" name="Google Shape;165;p24"/>
          <p:cNvSpPr txBox="1"/>
          <p:nvPr>
            <p:ph idx="1" type="body"/>
          </p:nvPr>
        </p:nvSpPr>
        <p:spPr>
          <a:xfrm>
            <a:off x="2314575" y="1961850"/>
            <a:ext cx="3222000" cy="254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9pPr>
          </a:lstStyle>
          <a:p/>
        </p:txBody>
      </p:sp>
      <p:sp>
        <p:nvSpPr>
          <p:cNvPr id="166" name="Google Shape;166;p24"/>
          <p:cNvSpPr txBox="1"/>
          <p:nvPr>
            <p:ph idx="2" type="subTitle"/>
          </p:nvPr>
        </p:nvSpPr>
        <p:spPr>
          <a:xfrm>
            <a:off x="2314575" y="1660050"/>
            <a:ext cx="3222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9pPr>
          </a:lstStyle>
          <a:p/>
        </p:txBody>
      </p:sp>
      <p:sp>
        <p:nvSpPr>
          <p:cNvPr id="167" name="Google Shape;167;p24"/>
          <p:cNvSpPr/>
          <p:nvPr>
            <p:ph idx="3" type="pic"/>
          </p:nvPr>
        </p:nvSpPr>
        <p:spPr>
          <a:xfrm>
            <a:off x="5779150" y="1660075"/>
            <a:ext cx="2937300" cy="28473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24"/>
          <p:cNvSpPr txBox="1"/>
          <p:nvPr>
            <p:ph idx="4" type="subTitle"/>
          </p:nvPr>
        </p:nvSpPr>
        <p:spPr>
          <a:xfrm>
            <a:off x="1443025" y="469375"/>
            <a:ext cx="4554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9" name="Google Shape;169;p24"/>
          <p:cNvSpPr txBox="1"/>
          <p:nvPr>
            <p:ph idx="5" type="subTitle"/>
          </p:nvPr>
        </p:nvSpPr>
        <p:spPr>
          <a:xfrm>
            <a:off x="609725" y="2991325"/>
            <a:ext cx="1230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9pPr>
          </a:lstStyle>
          <a:p/>
        </p:txBody>
      </p:sp>
      <p:sp>
        <p:nvSpPr>
          <p:cNvPr id="170" name="Google Shape;170;p24"/>
          <p:cNvSpPr txBox="1"/>
          <p:nvPr>
            <p:ph idx="6" type="subTitle"/>
          </p:nvPr>
        </p:nvSpPr>
        <p:spPr>
          <a:xfrm>
            <a:off x="780175" y="3786625"/>
            <a:ext cx="1059600" cy="375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171" name="Google Shape;171;p24"/>
          <p:cNvSpPr txBox="1"/>
          <p:nvPr>
            <p:ph idx="7" type="subTitle"/>
          </p:nvPr>
        </p:nvSpPr>
        <p:spPr>
          <a:xfrm>
            <a:off x="780175" y="1811350"/>
            <a:ext cx="1059600" cy="375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172" name="Google Shape;172;p24"/>
          <p:cNvSpPr txBox="1"/>
          <p:nvPr>
            <p:ph idx="8" type="subTitle"/>
          </p:nvPr>
        </p:nvSpPr>
        <p:spPr>
          <a:xfrm>
            <a:off x="603175" y="2210875"/>
            <a:ext cx="13167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73" name="Google Shape;173;p24"/>
          <p:cNvSpPr txBox="1"/>
          <p:nvPr>
            <p:ph idx="9" type="subTitle"/>
          </p:nvPr>
        </p:nvSpPr>
        <p:spPr>
          <a:xfrm>
            <a:off x="603175" y="4184850"/>
            <a:ext cx="13167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74" name="Google Shape;174;p24"/>
          <p:cNvSpPr txBox="1"/>
          <p:nvPr>
            <p:ph type="title"/>
          </p:nvPr>
        </p:nvSpPr>
        <p:spPr>
          <a:xfrm>
            <a:off x="421325" y="358100"/>
            <a:ext cx="823800" cy="59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5" name="Google Shape;175;p24"/>
          <p:cNvSpPr txBox="1"/>
          <p:nvPr>
            <p:ph idx="13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  <p:sp>
        <p:nvSpPr>
          <p:cNvPr id="176" name="Google Shape;176;p24"/>
          <p:cNvSpPr txBox="1"/>
          <p:nvPr>
            <p:ph idx="14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  <p:sp>
        <p:nvSpPr>
          <p:cNvPr id="177" name="Google Shape;177;p24"/>
          <p:cNvSpPr txBox="1"/>
          <p:nvPr>
            <p:ph idx="15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2">
  <p:cSld name="BLANK_1_1_1_1_1_1_1_1_2_1_1_1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/>
          <p:nvPr/>
        </p:nvSpPr>
        <p:spPr>
          <a:xfrm>
            <a:off x="228575" y="220050"/>
            <a:ext cx="8686800" cy="44832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0" name="Google Shape;180;p25"/>
          <p:cNvSpPr txBox="1"/>
          <p:nvPr>
            <p:ph idx="1" type="subTitle"/>
          </p:nvPr>
        </p:nvSpPr>
        <p:spPr>
          <a:xfrm>
            <a:off x="6561550" y="3978150"/>
            <a:ext cx="18804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9pPr>
          </a:lstStyle>
          <a:p/>
        </p:txBody>
      </p:sp>
      <p:sp>
        <p:nvSpPr>
          <p:cNvPr id="181" name="Google Shape;181;p25"/>
          <p:cNvSpPr txBox="1"/>
          <p:nvPr>
            <p:ph idx="2" type="subTitle"/>
          </p:nvPr>
        </p:nvSpPr>
        <p:spPr>
          <a:xfrm>
            <a:off x="1443025" y="469375"/>
            <a:ext cx="4554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82" name="Google Shape;182;p25"/>
          <p:cNvSpPr txBox="1"/>
          <p:nvPr>
            <p:ph type="title"/>
          </p:nvPr>
        </p:nvSpPr>
        <p:spPr>
          <a:xfrm>
            <a:off x="421325" y="358100"/>
            <a:ext cx="823800" cy="59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3" name="Google Shape;183;p25"/>
          <p:cNvSpPr/>
          <p:nvPr>
            <p:ph idx="3" type="pic"/>
          </p:nvPr>
        </p:nvSpPr>
        <p:spPr>
          <a:xfrm>
            <a:off x="421325" y="1661000"/>
            <a:ext cx="3853500" cy="28473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25"/>
          <p:cNvSpPr txBox="1"/>
          <p:nvPr>
            <p:ph idx="4" type="body"/>
          </p:nvPr>
        </p:nvSpPr>
        <p:spPr>
          <a:xfrm>
            <a:off x="4513900" y="1962800"/>
            <a:ext cx="4203000" cy="14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9pPr>
          </a:lstStyle>
          <a:p/>
        </p:txBody>
      </p:sp>
      <p:sp>
        <p:nvSpPr>
          <p:cNvPr id="185" name="Google Shape;185;p25"/>
          <p:cNvSpPr txBox="1"/>
          <p:nvPr>
            <p:ph idx="5" type="subTitle"/>
          </p:nvPr>
        </p:nvSpPr>
        <p:spPr>
          <a:xfrm>
            <a:off x="4513900" y="1661000"/>
            <a:ext cx="4203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9pPr>
          </a:lstStyle>
          <a:p/>
        </p:txBody>
      </p:sp>
      <p:sp>
        <p:nvSpPr>
          <p:cNvPr id="186" name="Google Shape;186;p25"/>
          <p:cNvSpPr txBox="1"/>
          <p:nvPr>
            <p:ph idx="6" type="subTitle"/>
          </p:nvPr>
        </p:nvSpPr>
        <p:spPr>
          <a:xfrm>
            <a:off x="4866250" y="3786475"/>
            <a:ext cx="1059600" cy="375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187" name="Google Shape;187;p25"/>
          <p:cNvSpPr txBox="1"/>
          <p:nvPr>
            <p:ph idx="7" type="subTitle"/>
          </p:nvPr>
        </p:nvSpPr>
        <p:spPr>
          <a:xfrm>
            <a:off x="4689250" y="4184700"/>
            <a:ext cx="13167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8" name="Google Shape;188;p25"/>
          <p:cNvSpPr txBox="1"/>
          <p:nvPr>
            <p:ph idx="8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  <p:sp>
        <p:nvSpPr>
          <p:cNvPr id="189" name="Google Shape;189;p25"/>
          <p:cNvSpPr txBox="1"/>
          <p:nvPr>
            <p:ph idx="9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  <p:sp>
        <p:nvSpPr>
          <p:cNvPr id="190" name="Google Shape;190;p25"/>
          <p:cNvSpPr txBox="1"/>
          <p:nvPr>
            <p:ph idx="13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3">
  <p:cSld name="BLANK_1_1_1_1_1_1_1_1_2_1_1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/>
          <p:nvPr/>
        </p:nvSpPr>
        <p:spPr>
          <a:xfrm>
            <a:off x="228575" y="220050"/>
            <a:ext cx="8686800" cy="44832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3" name="Google Shape;193;p26"/>
          <p:cNvSpPr txBox="1"/>
          <p:nvPr>
            <p:ph idx="1" type="subTitle"/>
          </p:nvPr>
        </p:nvSpPr>
        <p:spPr>
          <a:xfrm>
            <a:off x="1443025" y="469375"/>
            <a:ext cx="4554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94" name="Google Shape;194;p26"/>
          <p:cNvSpPr txBox="1"/>
          <p:nvPr>
            <p:ph type="title"/>
          </p:nvPr>
        </p:nvSpPr>
        <p:spPr>
          <a:xfrm>
            <a:off x="421325" y="358100"/>
            <a:ext cx="823800" cy="59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5" name="Google Shape;195;p26"/>
          <p:cNvSpPr/>
          <p:nvPr>
            <p:ph idx="2" type="pic"/>
          </p:nvPr>
        </p:nvSpPr>
        <p:spPr>
          <a:xfrm>
            <a:off x="6237225" y="1660038"/>
            <a:ext cx="2485800" cy="28473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6"/>
          <p:cNvSpPr txBox="1"/>
          <p:nvPr>
            <p:ph idx="3" type="body"/>
          </p:nvPr>
        </p:nvSpPr>
        <p:spPr>
          <a:xfrm>
            <a:off x="421325" y="3096250"/>
            <a:ext cx="5556900" cy="14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9pPr>
          </a:lstStyle>
          <a:p/>
        </p:txBody>
      </p:sp>
      <p:sp>
        <p:nvSpPr>
          <p:cNvPr id="197" name="Google Shape;197;p26"/>
          <p:cNvSpPr txBox="1"/>
          <p:nvPr>
            <p:ph idx="4" type="subTitle"/>
          </p:nvPr>
        </p:nvSpPr>
        <p:spPr>
          <a:xfrm>
            <a:off x="421325" y="2794450"/>
            <a:ext cx="55569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9pPr>
          </a:lstStyle>
          <a:p/>
        </p:txBody>
      </p:sp>
      <p:sp>
        <p:nvSpPr>
          <p:cNvPr id="198" name="Google Shape;198;p26"/>
          <p:cNvSpPr txBox="1"/>
          <p:nvPr>
            <p:ph idx="5" type="subTitle"/>
          </p:nvPr>
        </p:nvSpPr>
        <p:spPr>
          <a:xfrm>
            <a:off x="2654650" y="2002400"/>
            <a:ext cx="18804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9pPr>
          </a:lstStyle>
          <a:p/>
        </p:txBody>
      </p:sp>
      <p:sp>
        <p:nvSpPr>
          <p:cNvPr id="199" name="Google Shape;199;p26"/>
          <p:cNvSpPr txBox="1"/>
          <p:nvPr>
            <p:ph idx="6" type="subTitle"/>
          </p:nvPr>
        </p:nvSpPr>
        <p:spPr>
          <a:xfrm>
            <a:off x="780175" y="1809463"/>
            <a:ext cx="1059600" cy="375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200" name="Google Shape;200;p26"/>
          <p:cNvSpPr txBox="1"/>
          <p:nvPr>
            <p:ph idx="7" type="subTitle"/>
          </p:nvPr>
        </p:nvSpPr>
        <p:spPr>
          <a:xfrm>
            <a:off x="603175" y="2209000"/>
            <a:ext cx="15408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01" name="Google Shape;201;p26"/>
          <p:cNvSpPr txBox="1"/>
          <p:nvPr>
            <p:ph idx="8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  <p:sp>
        <p:nvSpPr>
          <p:cNvPr id="202" name="Google Shape;202;p26"/>
          <p:cNvSpPr txBox="1"/>
          <p:nvPr>
            <p:ph idx="9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  <p:sp>
        <p:nvSpPr>
          <p:cNvPr id="203" name="Google Shape;203;p26"/>
          <p:cNvSpPr txBox="1"/>
          <p:nvPr>
            <p:ph idx="13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BLANK_1_1_1_1_1_1_1_1_2_1_1_1_1_1">
    <p:bg>
      <p:bgPr>
        <a:solidFill>
          <a:schemeClr val="dk2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>
            <p:ph type="title"/>
          </p:nvPr>
        </p:nvSpPr>
        <p:spPr>
          <a:xfrm>
            <a:off x="743250" y="2276250"/>
            <a:ext cx="7657500" cy="59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dk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dk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dk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dk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dk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dk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dk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dk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dk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06" name="Google Shape;206;p27"/>
          <p:cNvSpPr/>
          <p:nvPr>
            <p:ph idx="2" type="pic"/>
          </p:nvPr>
        </p:nvSpPr>
        <p:spPr>
          <a:xfrm>
            <a:off x="5935400" y="3835650"/>
            <a:ext cx="867600" cy="867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7" name="Google Shape;207;p27"/>
          <p:cNvSpPr txBox="1"/>
          <p:nvPr>
            <p:ph idx="1" type="subTitle"/>
          </p:nvPr>
        </p:nvSpPr>
        <p:spPr>
          <a:xfrm>
            <a:off x="7155500" y="4123500"/>
            <a:ext cx="14073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9pPr>
          </a:lstStyle>
          <a:p/>
        </p:txBody>
      </p:sp>
      <p:sp>
        <p:nvSpPr>
          <p:cNvPr id="208" name="Google Shape;208;p27"/>
          <p:cNvSpPr txBox="1"/>
          <p:nvPr>
            <p:ph idx="3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  <p:sp>
        <p:nvSpPr>
          <p:cNvPr id="209" name="Google Shape;209;p27"/>
          <p:cNvSpPr txBox="1"/>
          <p:nvPr>
            <p:ph idx="4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  <p:sp>
        <p:nvSpPr>
          <p:cNvPr id="210" name="Google Shape;210;p27"/>
          <p:cNvSpPr txBox="1"/>
          <p:nvPr>
            <p:ph idx="5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BLANK_1_1_1_1_1_1_1_1_2_1_1_1_1_1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 txBox="1"/>
          <p:nvPr>
            <p:ph idx="1" type="subTitle"/>
          </p:nvPr>
        </p:nvSpPr>
        <p:spPr>
          <a:xfrm>
            <a:off x="5764919" y="4182087"/>
            <a:ext cx="1379400" cy="26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9pPr>
          </a:lstStyle>
          <a:p/>
        </p:txBody>
      </p:sp>
      <p:sp>
        <p:nvSpPr>
          <p:cNvPr id="213" name="Google Shape;213;p28"/>
          <p:cNvSpPr/>
          <p:nvPr>
            <p:ph idx="2" type="pic"/>
          </p:nvPr>
        </p:nvSpPr>
        <p:spPr>
          <a:xfrm>
            <a:off x="7482900" y="3270750"/>
            <a:ext cx="1432500" cy="1432500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28"/>
          <p:cNvSpPr txBox="1"/>
          <p:nvPr>
            <p:ph type="title"/>
          </p:nvPr>
        </p:nvSpPr>
        <p:spPr>
          <a:xfrm>
            <a:off x="724450" y="291900"/>
            <a:ext cx="6267900" cy="23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1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1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1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1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1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1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1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1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15" name="Google Shape;215;p28"/>
          <p:cNvSpPr txBox="1"/>
          <p:nvPr>
            <p:ph idx="3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  <p:sp>
        <p:nvSpPr>
          <p:cNvPr id="216" name="Google Shape;216;p28"/>
          <p:cNvSpPr txBox="1"/>
          <p:nvPr>
            <p:ph idx="4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  <p:sp>
        <p:nvSpPr>
          <p:cNvPr id="217" name="Google Shape;217;p28"/>
          <p:cNvSpPr txBox="1"/>
          <p:nvPr>
            <p:ph idx="5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3">
  <p:cSld name="BLANK_1_1_1_1_1_1_1_1_2_1_1_1_1_1_1_1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 txBox="1"/>
          <p:nvPr>
            <p:ph idx="1" type="subTitle"/>
          </p:nvPr>
        </p:nvSpPr>
        <p:spPr>
          <a:xfrm>
            <a:off x="574144" y="4182237"/>
            <a:ext cx="1379400" cy="26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9pPr>
          </a:lstStyle>
          <a:p/>
        </p:txBody>
      </p:sp>
      <p:sp>
        <p:nvSpPr>
          <p:cNvPr id="220" name="Google Shape;220;p29"/>
          <p:cNvSpPr/>
          <p:nvPr>
            <p:ph idx="2" type="pic"/>
          </p:nvPr>
        </p:nvSpPr>
        <p:spPr>
          <a:xfrm>
            <a:off x="4572096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29"/>
          <p:cNvSpPr txBox="1"/>
          <p:nvPr>
            <p:ph type="title"/>
          </p:nvPr>
        </p:nvSpPr>
        <p:spPr>
          <a:xfrm>
            <a:off x="228600" y="1886650"/>
            <a:ext cx="3551100" cy="166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idx="3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  <p:sp>
        <p:nvSpPr>
          <p:cNvPr id="223" name="Google Shape;223;p29"/>
          <p:cNvSpPr txBox="1"/>
          <p:nvPr>
            <p:ph idx="4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  <p:sp>
        <p:nvSpPr>
          <p:cNvPr id="224" name="Google Shape;224;p29"/>
          <p:cNvSpPr txBox="1"/>
          <p:nvPr>
            <p:ph idx="5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type="title"/>
          </p:nvPr>
        </p:nvSpPr>
        <p:spPr>
          <a:xfrm>
            <a:off x="459900" y="423850"/>
            <a:ext cx="4484400" cy="27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27" name="Google Shape;227;p30"/>
          <p:cNvSpPr txBox="1"/>
          <p:nvPr>
            <p:ph idx="1" type="subTitle"/>
          </p:nvPr>
        </p:nvSpPr>
        <p:spPr>
          <a:xfrm>
            <a:off x="228600" y="220050"/>
            <a:ext cx="2427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28" name="Google Shape;228;p30"/>
          <p:cNvSpPr/>
          <p:nvPr/>
        </p:nvSpPr>
        <p:spPr>
          <a:xfrm rot="5400000">
            <a:off x="216900" y="486850"/>
            <a:ext cx="170400" cy="1470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29" name="Google Shape;229;p30"/>
          <p:cNvSpPr txBox="1"/>
          <p:nvPr>
            <p:ph idx="2" type="subTitle"/>
          </p:nvPr>
        </p:nvSpPr>
        <p:spPr>
          <a:xfrm>
            <a:off x="460025" y="2463700"/>
            <a:ext cx="1464000" cy="16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230" name="Google Shape;230;p30"/>
          <p:cNvSpPr txBox="1"/>
          <p:nvPr>
            <p:ph idx="3" type="subTitle"/>
          </p:nvPr>
        </p:nvSpPr>
        <p:spPr>
          <a:xfrm>
            <a:off x="2713400" y="2463700"/>
            <a:ext cx="1464000" cy="16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231" name="Google Shape;231;p30"/>
          <p:cNvSpPr txBox="1"/>
          <p:nvPr>
            <p:ph idx="4" type="subTitle"/>
          </p:nvPr>
        </p:nvSpPr>
        <p:spPr>
          <a:xfrm>
            <a:off x="4966775" y="2463700"/>
            <a:ext cx="1464000" cy="16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232" name="Google Shape;232;p30"/>
          <p:cNvSpPr txBox="1"/>
          <p:nvPr>
            <p:ph idx="5" type="subTitle"/>
          </p:nvPr>
        </p:nvSpPr>
        <p:spPr>
          <a:xfrm>
            <a:off x="7220150" y="2463700"/>
            <a:ext cx="1464000" cy="16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233" name="Google Shape;233;p30"/>
          <p:cNvSpPr txBox="1"/>
          <p:nvPr>
            <p:ph idx="6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  <p:sp>
        <p:nvSpPr>
          <p:cNvPr id="234" name="Google Shape;234;p30"/>
          <p:cNvSpPr txBox="1"/>
          <p:nvPr>
            <p:ph idx="7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  <p:sp>
        <p:nvSpPr>
          <p:cNvPr id="235" name="Google Shape;235;p30"/>
          <p:cNvSpPr txBox="1"/>
          <p:nvPr>
            <p:ph idx="8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7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7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7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7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7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7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7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8" name="Google Shape;238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43" name="Google Shape;243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46" name="Google Shape;246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7" name="Google Shape;247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2" name="Google Shape;252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7" name="Google Shape;257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8" name="Google Shape;258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63" name="Google Shape;263;p4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67" name="Google Shape;267;p4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8" name="Google Shape;268;p4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9" name="Google Shape;269;p4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0" name="Google Shape;270;p4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1" name="Google Shape;271;p4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2" name="Google Shape;272;p4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75" name="Google Shape;275;p4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6" name="Google Shape;276;p4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9" name="Google Shape;279;p4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0" name="Google Shape;280;p4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1" name="Google Shape;281;p4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2" name="Google Shape;282;p4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5" name="Google Shape;285;p4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6" name="Google Shape;286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7" name="Google Shape;287;p45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8" name="Google Shape;288;p45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45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45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3" name="Google Shape;293;p4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4" name="Google Shape;294;p4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5" name="Google Shape;295;p4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6" name="Google Shape;296;p4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7" name="Google Shape;297;p4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8" name="Google Shape;298;p4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9" name="Google Shape;299;p4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0" name="Google Shape;300;p4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03" name="Google Shape;303;p4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6" name="Google Shape;306;p4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4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4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9" name="Google Shape;309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10" name="Google Shape;310;p4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1" name="Google Shape;311;p4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4" name="Google Shape;314;p4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4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7" name="Google Shape;317;p4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8" name="Google Shape;318;p4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9" name="Google Shape;319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20" name="Google Shape;320;p4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1" name="Google Shape;321;p4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2" name="Google Shape;322;p4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5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5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5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5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5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2" name="Google Shape;332;p5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33" name="Google Shape;333;p5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5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5" name="Google Shape;335;p5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theme" Target="../theme/theme2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580975" y="418300"/>
            <a:ext cx="83040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omorrow"/>
              <a:buNone/>
              <a:defRPr sz="48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omorrow"/>
              <a:buNone/>
              <a:defRPr sz="48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omorrow"/>
              <a:buNone/>
              <a:defRPr sz="48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omorrow"/>
              <a:buNone/>
              <a:defRPr sz="48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omorrow"/>
              <a:buNone/>
              <a:defRPr sz="48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omorrow"/>
              <a:buNone/>
              <a:defRPr sz="48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omorrow"/>
              <a:buNone/>
              <a:defRPr sz="48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omorrow"/>
              <a:buNone/>
              <a:defRPr sz="48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omorrow"/>
              <a:buNone/>
              <a:defRPr sz="48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4508300" y="1890075"/>
            <a:ext cx="3733800" cy="24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strument Sans"/>
              <a:buChar char="●"/>
              <a:defRPr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strument Sans"/>
              <a:buChar char="○"/>
              <a:defRPr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strument Sans"/>
              <a:buChar char="■"/>
              <a:defRPr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strument Sans"/>
              <a:buChar char="●"/>
              <a:defRPr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strument Sans"/>
              <a:buChar char="○"/>
              <a:defRPr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strument Sans"/>
              <a:buChar char="■"/>
              <a:defRPr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strument Sans"/>
              <a:buChar char="●"/>
              <a:defRPr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strument Sans"/>
              <a:buChar char="○"/>
              <a:defRPr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strument Sans"/>
              <a:buChar char="■"/>
              <a:defRPr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8.jpg"/><Relationship Id="rId5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2"/>
          <p:cNvSpPr/>
          <p:nvPr/>
        </p:nvSpPr>
        <p:spPr>
          <a:xfrm>
            <a:off x="6477101" y="4515986"/>
            <a:ext cx="1266000" cy="4992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41" name="Google Shape;341;p52"/>
          <p:cNvSpPr/>
          <p:nvPr/>
        </p:nvSpPr>
        <p:spPr>
          <a:xfrm>
            <a:off x="7743001" y="4511354"/>
            <a:ext cx="1266000" cy="511200"/>
          </a:xfrm>
          <a:prstGeom prst="snip2DiagRect">
            <a:avLst>
              <a:gd fmla="val 0" name="adj1"/>
              <a:gd fmla="val 36477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2" name="Google Shape;342;p52"/>
          <p:cNvSpPr txBox="1"/>
          <p:nvPr>
            <p:ph type="title"/>
          </p:nvPr>
        </p:nvSpPr>
        <p:spPr>
          <a:xfrm>
            <a:off x="135000" y="134678"/>
            <a:ext cx="8874000" cy="24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2 :</a:t>
            </a:r>
            <a:r>
              <a:rPr lang="en"/>
              <a:t> </a:t>
            </a:r>
            <a:br>
              <a:rPr lang="en"/>
            </a:br>
            <a:r>
              <a:rPr lang="en">
                <a:solidFill>
                  <a:schemeClr val="accent1"/>
                </a:solidFill>
              </a:rPr>
              <a:t>G.o.I</a:t>
            </a:r>
            <a:r>
              <a:rPr lang="en"/>
              <a:t> Cybersecurity Framework through</a:t>
            </a:r>
            <a:r>
              <a:rPr lang="en">
                <a:solidFill>
                  <a:schemeClr val="accent1"/>
                </a:solidFill>
              </a:rPr>
              <a:t> CERT-IN</a:t>
            </a:r>
            <a:endParaRPr/>
          </a:p>
        </p:txBody>
      </p:sp>
      <p:sp>
        <p:nvSpPr>
          <p:cNvPr id="343" name="Google Shape;343;p52"/>
          <p:cNvSpPr txBox="1"/>
          <p:nvPr>
            <p:ph idx="1" type="subTitle"/>
          </p:nvPr>
        </p:nvSpPr>
        <p:spPr>
          <a:xfrm>
            <a:off x="7794301" y="4543886"/>
            <a:ext cx="1163400" cy="44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</a:t>
            </a:r>
            <a:r>
              <a:rPr lang="en">
                <a:solidFill>
                  <a:schemeClr val="lt1"/>
                </a:solidFill>
              </a:rPr>
              <a:t>0 mins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4" name="Google Shape;344;p52"/>
          <p:cNvSpPr txBox="1"/>
          <p:nvPr>
            <p:ph idx="2" type="subTitle"/>
          </p:nvPr>
        </p:nvSpPr>
        <p:spPr>
          <a:xfrm>
            <a:off x="6528401" y="4543886"/>
            <a:ext cx="1163400" cy="44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Duration</a:t>
            </a:r>
            <a:endParaRPr/>
          </a:p>
        </p:txBody>
      </p:sp>
      <p:sp>
        <p:nvSpPr>
          <p:cNvPr id="345" name="Google Shape;345;p52"/>
          <p:cNvSpPr txBox="1"/>
          <p:nvPr>
            <p:ph type="title"/>
          </p:nvPr>
        </p:nvSpPr>
        <p:spPr>
          <a:xfrm>
            <a:off x="5791500" y="2355050"/>
            <a:ext cx="3217500" cy="11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Akshit Varmora	23M0832</a:t>
            </a:r>
            <a:endParaRPr sz="18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Soumik Dutta	23M0826</a:t>
            </a:r>
            <a:endParaRPr sz="18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Jay Gorakhiya	23M0825</a:t>
            </a:r>
            <a:endParaRPr sz="1800"/>
          </a:p>
        </p:txBody>
      </p:sp>
      <p:sp>
        <p:nvSpPr>
          <p:cNvPr id="346" name="Google Shape;346;p52"/>
          <p:cNvSpPr txBox="1"/>
          <p:nvPr/>
        </p:nvSpPr>
        <p:spPr>
          <a:xfrm>
            <a:off x="135000" y="4543875"/>
            <a:ext cx="6393300" cy="499200"/>
          </a:xfrm>
          <a:prstGeom prst="rect">
            <a:avLst/>
          </a:prstGeom>
          <a:noFill/>
          <a:ln>
            <a:noFill/>
          </a:ln>
          <a:effectLst>
            <a:outerShdw blurRad="371475" rotWithShape="0" algn="bl" dir="1500000" dist="952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PS657: Cybersecurity Management &amp; Governance - Policy Aspects</a:t>
            </a:r>
            <a:endParaRPr sz="1700"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347" name="Google Shape;347;p52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9650" y="0"/>
            <a:ext cx="884350" cy="86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3"/>
          <p:cNvSpPr txBox="1"/>
          <p:nvPr>
            <p:ph type="title"/>
          </p:nvPr>
        </p:nvSpPr>
        <p:spPr>
          <a:xfrm>
            <a:off x="459900" y="423850"/>
            <a:ext cx="4484400" cy="27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353" name="Google Shape;353;p53"/>
          <p:cNvSpPr txBox="1"/>
          <p:nvPr>
            <p:ph idx="1" type="subTitle"/>
          </p:nvPr>
        </p:nvSpPr>
        <p:spPr>
          <a:xfrm>
            <a:off x="228600" y="220050"/>
            <a:ext cx="2427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354" name="Google Shape;354;p53"/>
          <p:cNvSpPr txBox="1"/>
          <p:nvPr>
            <p:ph idx="2" type="subTitle"/>
          </p:nvPr>
        </p:nvSpPr>
        <p:spPr>
          <a:xfrm>
            <a:off x="460025" y="2463700"/>
            <a:ext cx="1464000" cy="16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CERT-In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5" name="Google Shape;355;p53"/>
          <p:cNvSpPr txBox="1"/>
          <p:nvPr>
            <p:ph idx="3" type="subTitle"/>
          </p:nvPr>
        </p:nvSpPr>
        <p:spPr>
          <a:xfrm>
            <a:off x="2713400" y="2463700"/>
            <a:ext cx="1464000" cy="16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Comparison with ISO/IEC 27001</a:t>
            </a:r>
            <a:endParaRPr sz="1900"/>
          </a:p>
        </p:txBody>
      </p:sp>
      <p:sp>
        <p:nvSpPr>
          <p:cNvPr id="356" name="Google Shape;356;p53"/>
          <p:cNvSpPr txBox="1"/>
          <p:nvPr>
            <p:ph idx="4" type="subTitle"/>
          </p:nvPr>
        </p:nvSpPr>
        <p:spPr>
          <a:xfrm>
            <a:off x="4966775" y="2463700"/>
            <a:ext cx="1464000" cy="16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Resources Required for IIT Bombay</a:t>
            </a:r>
            <a:endParaRPr sz="2200"/>
          </a:p>
        </p:txBody>
      </p:sp>
      <p:sp>
        <p:nvSpPr>
          <p:cNvPr id="357" name="Google Shape;357;p53"/>
          <p:cNvSpPr txBox="1"/>
          <p:nvPr>
            <p:ph idx="5" type="subTitle"/>
          </p:nvPr>
        </p:nvSpPr>
        <p:spPr>
          <a:xfrm>
            <a:off x="7220150" y="2463700"/>
            <a:ext cx="1464000" cy="16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Assessment of Resource Availability at IIT Bombay</a:t>
            </a:r>
            <a:endParaRPr sz="1900"/>
          </a:p>
        </p:txBody>
      </p:sp>
      <p:cxnSp>
        <p:nvCxnSpPr>
          <p:cNvPr id="358" name="Google Shape;358;p53"/>
          <p:cNvCxnSpPr/>
          <p:nvPr/>
        </p:nvCxnSpPr>
        <p:spPr>
          <a:xfrm>
            <a:off x="-12450" y="2236475"/>
            <a:ext cx="91689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9" name="Google Shape;359;p53"/>
          <p:cNvSpPr/>
          <p:nvPr/>
        </p:nvSpPr>
        <p:spPr>
          <a:xfrm>
            <a:off x="460000" y="2154425"/>
            <a:ext cx="164100" cy="164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60" name="Google Shape;360;p53"/>
          <p:cNvSpPr/>
          <p:nvPr/>
        </p:nvSpPr>
        <p:spPr>
          <a:xfrm>
            <a:off x="2713481" y="2154425"/>
            <a:ext cx="164100" cy="164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61" name="Google Shape;361;p53"/>
          <p:cNvSpPr/>
          <p:nvPr/>
        </p:nvSpPr>
        <p:spPr>
          <a:xfrm>
            <a:off x="4966864" y="2154425"/>
            <a:ext cx="164100" cy="164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62" name="Google Shape;362;p53"/>
          <p:cNvSpPr/>
          <p:nvPr/>
        </p:nvSpPr>
        <p:spPr>
          <a:xfrm>
            <a:off x="7220252" y="2154425"/>
            <a:ext cx="164100" cy="164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63" name="Google Shape;363;p53"/>
          <p:cNvSpPr/>
          <p:nvPr/>
        </p:nvSpPr>
        <p:spPr>
          <a:xfrm rot="5400000">
            <a:off x="760225" y="2170650"/>
            <a:ext cx="158700" cy="137100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64" name="Google Shape;364;p53"/>
          <p:cNvSpPr/>
          <p:nvPr/>
        </p:nvSpPr>
        <p:spPr>
          <a:xfrm rot="5400000">
            <a:off x="3020238" y="2170650"/>
            <a:ext cx="158700" cy="137100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65" name="Google Shape;365;p53"/>
          <p:cNvSpPr/>
          <p:nvPr/>
        </p:nvSpPr>
        <p:spPr>
          <a:xfrm rot="5400000">
            <a:off x="5275875" y="2170650"/>
            <a:ext cx="158700" cy="137100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66" name="Google Shape;366;p53"/>
          <p:cNvSpPr/>
          <p:nvPr/>
        </p:nvSpPr>
        <p:spPr>
          <a:xfrm rot="5400000">
            <a:off x="7530375" y="2170650"/>
            <a:ext cx="158700" cy="137100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ow-angle cinematic shot of a cargo ship on water. " id="371" name="Google Shape;371;p5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31488"/>
          <a:stretch/>
        </p:blipFill>
        <p:spPr>
          <a:xfrm>
            <a:off x="228600" y="220050"/>
            <a:ext cx="8686800" cy="4466400"/>
          </a:xfrm>
          <a:prstGeom prst="rect">
            <a:avLst/>
          </a:prstGeom>
        </p:spPr>
      </p:pic>
      <p:sp>
        <p:nvSpPr>
          <p:cNvPr id="372" name="Google Shape;372;p54"/>
          <p:cNvSpPr txBox="1"/>
          <p:nvPr>
            <p:ph type="title"/>
          </p:nvPr>
        </p:nvSpPr>
        <p:spPr>
          <a:xfrm>
            <a:off x="1734625" y="1113166"/>
            <a:ext cx="5674800" cy="18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Cert-In</a:t>
            </a:r>
            <a:r>
              <a:rPr lang="en" sz="3000"/>
              <a:t> and Comparison with </a:t>
            </a:r>
            <a:r>
              <a:rPr b="1" lang="en" sz="3000"/>
              <a:t>ISO/IEC 27001</a:t>
            </a:r>
            <a:endParaRPr b="1" sz="3000"/>
          </a:p>
        </p:txBody>
      </p:sp>
      <p:sp>
        <p:nvSpPr>
          <p:cNvPr id="373" name="Google Shape;373;p54"/>
          <p:cNvSpPr/>
          <p:nvPr/>
        </p:nvSpPr>
        <p:spPr>
          <a:xfrm>
            <a:off x="3756325" y="3281150"/>
            <a:ext cx="1631400" cy="9957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74" name="Google Shape;374;p54"/>
          <p:cNvSpPr/>
          <p:nvPr/>
        </p:nvSpPr>
        <p:spPr>
          <a:xfrm>
            <a:off x="2124950" y="3281250"/>
            <a:ext cx="1631400" cy="995700"/>
          </a:xfrm>
          <a:prstGeom prst="snip2DiagRect">
            <a:avLst>
              <a:gd fmla="val 0" name="adj1"/>
              <a:gd fmla="val 21701" name="adj2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75" name="Google Shape;375;p54"/>
          <p:cNvSpPr/>
          <p:nvPr/>
        </p:nvSpPr>
        <p:spPr>
          <a:xfrm>
            <a:off x="5387700" y="3281250"/>
            <a:ext cx="1631400" cy="995700"/>
          </a:xfrm>
          <a:prstGeom prst="snip2DiagRect">
            <a:avLst>
              <a:gd fmla="val 0" name="adj1"/>
              <a:gd fmla="val 21701" name="adj2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76" name="Google Shape;376;p54"/>
          <p:cNvSpPr txBox="1"/>
          <p:nvPr/>
        </p:nvSpPr>
        <p:spPr>
          <a:xfrm>
            <a:off x="2293263" y="3903525"/>
            <a:ext cx="129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Tomorrow Medium"/>
              <a:ea typeface="Tomorrow Medium"/>
              <a:cs typeface="Tomorrow Medium"/>
              <a:sym typeface="Tomorrow Medium"/>
            </a:endParaRPr>
          </a:p>
        </p:txBody>
      </p:sp>
      <p:sp>
        <p:nvSpPr>
          <p:cNvPr id="377" name="Google Shape;377;p54"/>
          <p:cNvSpPr txBox="1"/>
          <p:nvPr/>
        </p:nvSpPr>
        <p:spPr>
          <a:xfrm>
            <a:off x="4050913" y="3834732"/>
            <a:ext cx="104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rPr>
              <a:t>01</a:t>
            </a:r>
            <a:endParaRPr sz="2600">
              <a:solidFill>
                <a:schemeClr val="accent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378" name="Google Shape;378;p54"/>
          <p:cNvSpPr txBox="1"/>
          <p:nvPr/>
        </p:nvSpPr>
        <p:spPr>
          <a:xfrm>
            <a:off x="3924613" y="3387722"/>
            <a:ext cx="129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rPr>
              <a:t>Part</a:t>
            </a:r>
            <a:endParaRPr sz="1000">
              <a:solidFill>
                <a:schemeClr val="dk1"/>
              </a:solidFill>
              <a:latin typeface="Tomorrow Medium"/>
              <a:ea typeface="Tomorrow Medium"/>
              <a:cs typeface="Tomorrow Medium"/>
              <a:sym typeface="Tomorrow Medium"/>
            </a:endParaRPr>
          </a:p>
        </p:txBody>
      </p:sp>
      <p:sp>
        <p:nvSpPr>
          <p:cNvPr id="379" name="Google Shape;379;p54"/>
          <p:cNvSpPr txBox="1"/>
          <p:nvPr/>
        </p:nvSpPr>
        <p:spPr>
          <a:xfrm>
            <a:off x="5555963" y="3903525"/>
            <a:ext cx="129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Tomorrow Medium"/>
              <a:ea typeface="Tomorrow Medium"/>
              <a:cs typeface="Tomorrow Medium"/>
              <a:sym typeface="Tomorrow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4" name="Google Shape;384;p55"/>
          <p:cNvCxnSpPr/>
          <p:nvPr/>
        </p:nvCxnSpPr>
        <p:spPr>
          <a:xfrm>
            <a:off x="421325" y="1154525"/>
            <a:ext cx="80730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5" name="Google Shape;385;p55"/>
          <p:cNvSpPr txBox="1"/>
          <p:nvPr>
            <p:ph idx="1" type="body"/>
          </p:nvPr>
        </p:nvSpPr>
        <p:spPr>
          <a:xfrm>
            <a:off x="421325" y="1249550"/>
            <a:ext cx="5018100" cy="3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b="1" lang="en" sz="1400"/>
              <a:t>Established By:</a:t>
            </a:r>
            <a:r>
              <a:rPr lang="en" sz="1400"/>
              <a:t> Ministry of Electronics and Information Technology (MeitY), in January 2004.</a:t>
            </a:r>
            <a:br>
              <a:rPr lang="en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b="1" lang="en" sz="1400"/>
              <a:t>The Need:</a:t>
            </a:r>
            <a:r>
              <a:rPr lang="en" sz="1400"/>
              <a:t> Driven by the rapid growth of "Digital Nagriks" (80+ crore) and rise in </a:t>
            </a:r>
            <a:r>
              <a:rPr lang="en" sz="1400"/>
              <a:t>cyber crimes</a:t>
            </a:r>
            <a:r>
              <a:rPr lang="en" sz="1400"/>
              <a:t> like malware, ransomware, phishing attacks targeting government infra</a:t>
            </a:r>
            <a:r>
              <a:rPr lang="en" sz="1400"/>
              <a:t>s</a:t>
            </a:r>
            <a:r>
              <a:rPr lang="en" sz="1400"/>
              <a:t>tructure.</a:t>
            </a:r>
            <a:br>
              <a:rPr lang="en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b="1" lang="en" sz="1400"/>
              <a:t>Objective: </a:t>
            </a:r>
            <a:r>
              <a:rPr lang="en" sz="1400"/>
              <a:t>To ensure an "O</a:t>
            </a:r>
            <a:r>
              <a:rPr lang="en" sz="1400"/>
              <a:t>pen, </a:t>
            </a:r>
            <a:r>
              <a:rPr lang="en" sz="1400"/>
              <a:t>Safe &amp; Trusted and </a:t>
            </a:r>
            <a:r>
              <a:rPr b="1" lang="en" sz="1400"/>
              <a:t>Accountable</a:t>
            </a:r>
            <a:r>
              <a:rPr lang="en" sz="1400"/>
              <a:t> Internet" for all users in India.</a:t>
            </a:r>
            <a:br>
              <a:rPr lang="en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b="1" lang="en" sz="1400"/>
              <a:t>The Core Idea: </a:t>
            </a:r>
            <a:r>
              <a:rPr lang="en" sz="1400"/>
              <a:t>It is a mandatory set of basic security rules that every government office in India must follow to protect their computers and data .</a:t>
            </a:r>
            <a:endParaRPr sz="1400"/>
          </a:p>
        </p:txBody>
      </p:sp>
      <p:sp>
        <p:nvSpPr>
          <p:cNvPr id="386" name="Google Shape;386;p55"/>
          <p:cNvSpPr txBox="1"/>
          <p:nvPr>
            <p:ph idx="4" type="subTitle"/>
          </p:nvPr>
        </p:nvSpPr>
        <p:spPr>
          <a:xfrm>
            <a:off x="1443025" y="469375"/>
            <a:ext cx="6858900" cy="68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Understanding the CERT-In (</a:t>
            </a:r>
            <a:r>
              <a:rPr lang="en" sz="2000">
                <a:solidFill>
                  <a:schemeClr val="accent1"/>
                </a:solidFill>
              </a:rPr>
              <a:t>Computer Emergency Response Team</a:t>
            </a:r>
            <a:r>
              <a:rPr lang="en" sz="2000"/>
              <a:t>)</a:t>
            </a:r>
            <a:endParaRPr sz="2000"/>
          </a:p>
        </p:txBody>
      </p:sp>
      <p:sp>
        <p:nvSpPr>
          <p:cNvPr id="387" name="Google Shape;387;p55"/>
          <p:cNvSpPr txBox="1"/>
          <p:nvPr>
            <p:ph type="title"/>
          </p:nvPr>
        </p:nvSpPr>
        <p:spPr>
          <a:xfrm>
            <a:off x="421325" y="358100"/>
            <a:ext cx="823800" cy="59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88" name="Google Shape;388;p55"/>
          <p:cNvSpPr/>
          <p:nvPr/>
        </p:nvSpPr>
        <p:spPr>
          <a:xfrm>
            <a:off x="8541616" y="415938"/>
            <a:ext cx="166800" cy="166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89" name="Google Shape;389;p55"/>
          <p:cNvSpPr/>
          <p:nvPr/>
        </p:nvSpPr>
        <p:spPr>
          <a:xfrm>
            <a:off x="8527133" y="582862"/>
            <a:ext cx="195900" cy="1485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390" name="Google Shape;390;p55"/>
          <p:cNvPicPr preferRelativeResize="0"/>
          <p:nvPr/>
        </p:nvPicPr>
        <p:blipFill rotWithShape="1">
          <a:blip r:embed="rId3">
            <a:alphaModFix/>
          </a:blip>
          <a:srcRect b="0" l="22563" r="9658" t="0"/>
          <a:stretch/>
        </p:blipFill>
        <p:spPr>
          <a:xfrm>
            <a:off x="5439276" y="1580125"/>
            <a:ext cx="3407200" cy="2847274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55"/>
          <p:cNvSpPr txBox="1"/>
          <p:nvPr/>
        </p:nvSpPr>
        <p:spPr>
          <a:xfrm>
            <a:off x="6390975" y="4742025"/>
            <a:ext cx="25197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https://www.cert-in.org.in/</a:t>
            </a:r>
            <a:endParaRPr sz="9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6" name="Google Shape;396;p56"/>
          <p:cNvCxnSpPr/>
          <p:nvPr/>
        </p:nvCxnSpPr>
        <p:spPr>
          <a:xfrm>
            <a:off x="421325" y="1154525"/>
            <a:ext cx="80730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" name="Google Shape;397;p56"/>
          <p:cNvSpPr txBox="1"/>
          <p:nvPr>
            <p:ph type="title"/>
          </p:nvPr>
        </p:nvSpPr>
        <p:spPr>
          <a:xfrm>
            <a:off x="421325" y="358100"/>
            <a:ext cx="823800" cy="59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98" name="Google Shape;398;p56"/>
          <p:cNvSpPr/>
          <p:nvPr/>
        </p:nvSpPr>
        <p:spPr>
          <a:xfrm>
            <a:off x="8541616" y="415938"/>
            <a:ext cx="166800" cy="166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99" name="Google Shape;399;p56"/>
          <p:cNvSpPr/>
          <p:nvPr/>
        </p:nvSpPr>
        <p:spPr>
          <a:xfrm>
            <a:off x="8527133" y="582862"/>
            <a:ext cx="195900" cy="1485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00" name="Google Shape;400;p56"/>
          <p:cNvSpPr txBox="1"/>
          <p:nvPr>
            <p:ph idx="2" type="subTitle"/>
          </p:nvPr>
        </p:nvSpPr>
        <p:spPr>
          <a:xfrm>
            <a:off x="1443025" y="469375"/>
            <a:ext cx="6858900" cy="68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Understanding the </a:t>
            </a:r>
            <a:r>
              <a:rPr lang="en" sz="2000"/>
              <a:t>ISO/IEC 27001</a:t>
            </a:r>
            <a:endParaRPr sz="2000"/>
          </a:p>
        </p:txBody>
      </p:sp>
      <p:sp>
        <p:nvSpPr>
          <p:cNvPr id="401" name="Google Shape;401;p56"/>
          <p:cNvSpPr txBox="1"/>
          <p:nvPr>
            <p:ph idx="4" type="body"/>
          </p:nvPr>
        </p:nvSpPr>
        <p:spPr>
          <a:xfrm>
            <a:off x="3353375" y="1249550"/>
            <a:ext cx="5560800" cy="3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b="1" lang="en" sz="1400"/>
              <a:t>Developed by</a:t>
            </a:r>
            <a:r>
              <a:rPr b="1" lang="en" sz="1400"/>
              <a:t>:</a:t>
            </a:r>
            <a:r>
              <a:rPr lang="en" sz="1400"/>
              <a:t> </a:t>
            </a:r>
            <a:r>
              <a:rPr lang="en" sz="1400"/>
              <a:t>International Organization for Standardization (ISO) and International Electrotechnical Commission (IEC).</a:t>
            </a:r>
            <a:br>
              <a:rPr lang="en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b="1" lang="en" sz="1400"/>
              <a:t>The Need:</a:t>
            </a:r>
            <a:r>
              <a:rPr lang="en" sz="1400"/>
              <a:t> </a:t>
            </a:r>
            <a:r>
              <a:rPr lang="en" sz="1400"/>
              <a:t>To help organizations </a:t>
            </a:r>
            <a:r>
              <a:rPr lang="en" sz="1400"/>
              <a:t>meet legal and regulatory requirements, and maintain an adequate posture against information security threats </a:t>
            </a:r>
            <a:r>
              <a:rPr lang="en" sz="1400"/>
              <a:t> </a:t>
            </a:r>
            <a:r>
              <a:rPr b="1" lang="en" sz="1400"/>
              <a:t>globally</a:t>
            </a:r>
            <a:r>
              <a:rPr lang="en" sz="1400"/>
              <a:t>.</a:t>
            </a:r>
            <a:br>
              <a:rPr lang="en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b="1" lang="en" sz="1400"/>
              <a:t>Objective: </a:t>
            </a:r>
            <a:r>
              <a:rPr lang="en" sz="1400"/>
              <a:t>To establish, implement, operate, monitor, review, maintain, and continually improve a formal Information Security Management System (</a:t>
            </a:r>
            <a:r>
              <a:rPr b="1" lang="en" sz="1400"/>
              <a:t>ISMS</a:t>
            </a:r>
            <a:r>
              <a:rPr lang="en" sz="1400"/>
              <a:t>) within any organization.</a:t>
            </a:r>
            <a:br>
              <a:rPr lang="en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b="1" lang="en" sz="1400"/>
              <a:t>The Core Idea: </a:t>
            </a:r>
            <a:r>
              <a:rPr lang="en" sz="1400"/>
              <a:t>It is a </a:t>
            </a:r>
            <a:r>
              <a:rPr b="1" lang="en" sz="1400"/>
              <a:t>certifiable</a:t>
            </a:r>
            <a:r>
              <a:rPr lang="en" sz="1400"/>
              <a:t> requirements standard. Utilizes the Plan-Do-Check-Act (</a:t>
            </a:r>
            <a:r>
              <a:rPr b="1" lang="en" sz="1400"/>
              <a:t>PDCA</a:t>
            </a:r>
            <a:r>
              <a:rPr lang="en" sz="1400"/>
              <a:t>) cycle to manage the security of information assets as a </a:t>
            </a:r>
            <a:r>
              <a:rPr b="1" lang="en" sz="1400"/>
              <a:t>continuous</a:t>
            </a:r>
            <a:r>
              <a:rPr lang="en" sz="1400"/>
              <a:t> lifecycle.</a:t>
            </a:r>
            <a:endParaRPr sz="1400"/>
          </a:p>
        </p:txBody>
      </p:sp>
      <p:pic>
        <p:nvPicPr>
          <p:cNvPr id="402" name="Google Shape;40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452" y="1224150"/>
            <a:ext cx="2847275" cy="284727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56"/>
          <p:cNvSpPr txBox="1"/>
          <p:nvPr/>
        </p:nvSpPr>
        <p:spPr>
          <a:xfrm>
            <a:off x="6390975" y="4742025"/>
            <a:ext cx="25197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https://www.iso.org/standard/27001</a:t>
            </a:r>
            <a:endParaRPr sz="9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7"/>
          <p:cNvSpPr txBox="1"/>
          <p:nvPr>
            <p:ph type="title"/>
          </p:nvPr>
        </p:nvSpPr>
        <p:spPr>
          <a:xfrm>
            <a:off x="488959" y="423850"/>
            <a:ext cx="4484400" cy="27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ISO/IEC 27001 vs </a:t>
            </a:r>
            <a:r>
              <a:rPr lang="en"/>
              <a:t>CERT-In</a:t>
            </a:r>
            <a:r>
              <a:rPr lang="en"/>
              <a:t> Comparison</a:t>
            </a:r>
            <a:endParaRPr/>
          </a:p>
        </p:txBody>
      </p:sp>
      <p:sp>
        <p:nvSpPr>
          <p:cNvPr id="409" name="Google Shape;409;p57"/>
          <p:cNvSpPr txBox="1"/>
          <p:nvPr>
            <p:ph idx="2" type="subTitle"/>
          </p:nvPr>
        </p:nvSpPr>
        <p:spPr>
          <a:xfrm>
            <a:off x="937025" y="1451200"/>
            <a:ext cx="28218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An international, certifiable requirements </a:t>
            </a:r>
            <a:r>
              <a:rPr b="1" lang="en" sz="1200">
                <a:latin typeface="Tomorrow"/>
                <a:ea typeface="Tomorrow"/>
                <a:cs typeface="Tomorrow"/>
                <a:sym typeface="Tomorrow"/>
              </a:rPr>
              <a:t>standard</a:t>
            </a:r>
            <a:r>
              <a:rPr lang="en" sz="1200"/>
              <a:t> for an ISMS.</a:t>
            </a:r>
            <a:endParaRPr sz="1200"/>
          </a:p>
        </p:txBody>
      </p:sp>
      <p:sp>
        <p:nvSpPr>
          <p:cNvPr id="410" name="Google Shape;410;p57"/>
          <p:cNvSpPr txBox="1"/>
          <p:nvPr>
            <p:ph idx="3" type="subTitle"/>
          </p:nvPr>
        </p:nvSpPr>
        <p:spPr>
          <a:xfrm>
            <a:off x="228600" y="1377638"/>
            <a:ext cx="5049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01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411" name="Google Shape;411;p57"/>
          <p:cNvSpPr txBox="1"/>
          <p:nvPr>
            <p:ph idx="4" type="body"/>
          </p:nvPr>
        </p:nvSpPr>
        <p:spPr>
          <a:xfrm>
            <a:off x="4652850" y="1451188"/>
            <a:ext cx="4260000" cy="53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Tomorrow"/>
                <a:ea typeface="Tomorrow"/>
                <a:cs typeface="Tomorrow"/>
                <a:sym typeface="Tomorrow"/>
              </a:rPr>
              <a:t>Indian</a:t>
            </a:r>
            <a:r>
              <a:rPr lang="en" sz="1200">
                <a:latin typeface="Tomorrow Medium"/>
                <a:ea typeface="Tomorrow Medium"/>
                <a:cs typeface="Tomorrow Medium"/>
                <a:sym typeface="Tomorrow Medium"/>
              </a:rPr>
              <a:t> national operational guidance providing a prioritized baseline.</a:t>
            </a:r>
            <a:endParaRPr sz="1200">
              <a:latin typeface="Tomorrow Medium"/>
              <a:ea typeface="Tomorrow Medium"/>
              <a:cs typeface="Tomorrow Medium"/>
              <a:sym typeface="Tomorrow Medium"/>
            </a:endParaRPr>
          </a:p>
        </p:txBody>
      </p:sp>
      <p:sp>
        <p:nvSpPr>
          <p:cNvPr id="412" name="Google Shape;412;p57"/>
          <p:cNvSpPr txBox="1"/>
          <p:nvPr>
            <p:ph idx="5" type="subTitle"/>
          </p:nvPr>
        </p:nvSpPr>
        <p:spPr>
          <a:xfrm>
            <a:off x="935675" y="2354316"/>
            <a:ext cx="2709300" cy="53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Tomorrow"/>
                <a:ea typeface="Tomorrow"/>
                <a:cs typeface="Tomorrow"/>
                <a:sym typeface="Tomorrow"/>
              </a:rPr>
              <a:t>Process-oriented:</a:t>
            </a:r>
            <a:r>
              <a:rPr lang="en" sz="1200"/>
              <a:t> Focuses on management processes and continuous improvement.</a:t>
            </a:r>
            <a:endParaRPr sz="1200"/>
          </a:p>
        </p:txBody>
      </p:sp>
      <p:sp>
        <p:nvSpPr>
          <p:cNvPr id="413" name="Google Shape;413;p57"/>
          <p:cNvSpPr txBox="1"/>
          <p:nvPr>
            <p:ph idx="6" type="subTitle"/>
          </p:nvPr>
        </p:nvSpPr>
        <p:spPr>
          <a:xfrm>
            <a:off x="227238" y="2280726"/>
            <a:ext cx="5049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02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414" name="Google Shape;414;p57"/>
          <p:cNvSpPr txBox="1"/>
          <p:nvPr>
            <p:ph idx="7" type="body"/>
          </p:nvPr>
        </p:nvSpPr>
        <p:spPr>
          <a:xfrm>
            <a:off x="4651488" y="2354276"/>
            <a:ext cx="4260000" cy="53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omorrow Medium"/>
                <a:ea typeface="Tomorrow Medium"/>
                <a:cs typeface="Tomorrow Medium"/>
                <a:sym typeface="Tomorrow Medium"/>
              </a:rPr>
              <a:t>Prescriptive/Control-oriented: Focuses on specific technical and policy "</a:t>
            </a:r>
            <a:r>
              <a:rPr b="1" lang="en" sz="1200">
                <a:latin typeface="Tomorrow"/>
                <a:ea typeface="Tomorrow"/>
                <a:cs typeface="Tomorrow"/>
                <a:sym typeface="Tomorrow"/>
              </a:rPr>
              <a:t>must-dos</a:t>
            </a:r>
            <a:r>
              <a:rPr lang="en" sz="1200">
                <a:latin typeface="Tomorrow Medium"/>
                <a:ea typeface="Tomorrow Medium"/>
                <a:cs typeface="Tomorrow Medium"/>
                <a:sym typeface="Tomorrow Medium"/>
              </a:rPr>
              <a:t>".</a:t>
            </a:r>
            <a:endParaRPr sz="1200">
              <a:latin typeface="Tomorrow Medium"/>
              <a:ea typeface="Tomorrow Medium"/>
              <a:cs typeface="Tomorrow Medium"/>
              <a:sym typeface="Tomorrow Medium"/>
            </a:endParaRPr>
          </a:p>
        </p:txBody>
      </p:sp>
      <p:sp>
        <p:nvSpPr>
          <p:cNvPr id="415" name="Google Shape;415;p57"/>
          <p:cNvSpPr txBox="1"/>
          <p:nvPr>
            <p:ph idx="8" type="subTitle"/>
          </p:nvPr>
        </p:nvSpPr>
        <p:spPr>
          <a:xfrm>
            <a:off x="935650" y="3257380"/>
            <a:ext cx="2709300" cy="5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Comprehensive but resource-intensive to establish and maintain</a:t>
            </a:r>
            <a:r>
              <a:rPr lang="en" sz="1200"/>
              <a:t>.</a:t>
            </a:r>
            <a:endParaRPr sz="1200"/>
          </a:p>
        </p:txBody>
      </p:sp>
      <p:sp>
        <p:nvSpPr>
          <p:cNvPr id="416" name="Google Shape;416;p57"/>
          <p:cNvSpPr txBox="1"/>
          <p:nvPr>
            <p:ph idx="9" type="subTitle"/>
          </p:nvPr>
        </p:nvSpPr>
        <p:spPr>
          <a:xfrm>
            <a:off x="227225" y="3183813"/>
            <a:ext cx="5049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03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417" name="Google Shape;417;p57"/>
          <p:cNvSpPr txBox="1"/>
          <p:nvPr>
            <p:ph idx="13" type="body"/>
          </p:nvPr>
        </p:nvSpPr>
        <p:spPr>
          <a:xfrm>
            <a:off x="4651475" y="3257363"/>
            <a:ext cx="4260000" cy="53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omorrow Medium"/>
                <a:ea typeface="Tomorrow Medium"/>
                <a:cs typeface="Tomorrow Medium"/>
                <a:sym typeface="Tomorrow Medium"/>
              </a:rPr>
              <a:t>Provides a minimum </a:t>
            </a:r>
            <a:r>
              <a:rPr b="1" lang="en" sz="1200">
                <a:latin typeface="Tomorrow"/>
                <a:ea typeface="Tomorrow"/>
                <a:cs typeface="Tomorrow"/>
                <a:sym typeface="Tomorrow"/>
              </a:rPr>
              <a:t>baseline</a:t>
            </a:r>
            <a:r>
              <a:rPr lang="en" sz="1200">
                <a:latin typeface="Tomorrow Medium"/>
                <a:ea typeface="Tomorrow Medium"/>
                <a:cs typeface="Tomorrow Medium"/>
                <a:sym typeface="Tomorrow Medium"/>
              </a:rPr>
              <a:t> that all  entities must implement to reach resiliency</a:t>
            </a:r>
            <a:r>
              <a:rPr lang="en" sz="1200">
                <a:latin typeface="Tomorrow Medium"/>
                <a:ea typeface="Tomorrow Medium"/>
                <a:cs typeface="Tomorrow Medium"/>
                <a:sym typeface="Tomorrow Medium"/>
              </a:rPr>
              <a:t>.</a:t>
            </a:r>
            <a:endParaRPr sz="1200">
              <a:latin typeface="Tomorrow Medium"/>
              <a:ea typeface="Tomorrow Medium"/>
              <a:cs typeface="Tomorrow Medium"/>
              <a:sym typeface="Tomorrow Medium"/>
            </a:endParaRPr>
          </a:p>
        </p:txBody>
      </p:sp>
      <p:sp>
        <p:nvSpPr>
          <p:cNvPr id="418" name="Google Shape;418;p57"/>
          <p:cNvSpPr txBox="1"/>
          <p:nvPr>
            <p:ph idx="14" type="subTitle"/>
          </p:nvPr>
        </p:nvSpPr>
        <p:spPr>
          <a:xfrm>
            <a:off x="935675" y="4160463"/>
            <a:ext cx="270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Organizations </a:t>
            </a:r>
            <a:r>
              <a:rPr b="1" lang="en" sz="1200">
                <a:latin typeface="Tomorrow"/>
                <a:ea typeface="Tomorrow"/>
                <a:cs typeface="Tomorrow"/>
                <a:sym typeface="Tomorrow"/>
              </a:rPr>
              <a:t>choose to</a:t>
            </a:r>
            <a:r>
              <a:rPr lang="en" sz="1200"/>
              <a:t> comply to achieve certification.</a:t>
            </a:r>
            <a:endParaRPr sz="1200"/>
          </a:p>
        </p:txBody>
      </p:sp>
      <p:sp>
        <p:nvSpPr>
          <p:cNvPr id="419" name="Google Shape;419;p57"/>
          <p:cNvSpPr txBox="1"/>
          <p:nvPr>
            <p:ph idx="15" type="subTitle"/>
          </p:nvPr>
        </p:nvSpPr>
        <p:spPr>
          <a:xfrm>
            <a:off x="227238" y="4086913"/>
            <a:ext cx="5049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04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420" name="Google Shape;420;p57"/>
          <p:cNvSpPr txBox="1"/>
          <p:nvPr>
            <p:ph idx="16" type="body"/>
          </p:nvPr>
        </p:nvSpPr>
        <p:spPr>
          <a:xfrm>
            <a:off x="4651488" y="4160463"/>
            <a:ext cx="4260000" cy="53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Tomorrow"/>
                <a:ea typeface="Tomorrow"/>
                <a:cs typeface="Tomorrow"/>
                <a:sym typeface="Tomorrow"/>
              </a:rPr>
              <a:t>Mandatory</a:t>
            </a:r>
            <a:r>
              <a:rPr lang="en" sz="1200">
                <a:latin typeface="Tomorrow Medium"/>
                <a:ea typeface="Tomorrow Medium"/>
                <a:cs typeface="Tomorrow Medium"/>
                <a:sym typeface="Tomorrow Medium"/>
              </a:rPr>
              <a:t> for all Indian Government Ministries, Departments, and Entities.</a:t>
            </a:r>
            <a:endParaRPr sz="1200">
              <a:latin typeface="Tomorrow Medium"/>
              <a:ea typeface="Tomorrow Medium"/>
              <a:cs typeface="Tomorrow Medium"/>
              <a:sym typeface="Tomorrow Medium"/>
            </a:endParaRPr>
          </a:p>
        </p:txBody>
      </p:sp>
      <p:sp>
        <p:nvSpPr>
          <p:cNvPr id="421" name="Google Shape;421;p57"/>
          <p:cNvSpPr/>
          <p:nvPr/>
        </p:nvSpPr>
        <p:spPr>
          <a:xfrm rot="5400000">
            <a:off x="216900" y="486850"/>
            <a:ext cx="170400" cy="147000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22" name="Google Shape;422;p57"/>
          <p:cNvSpPr/>
          <p:nvPr/>
        </p:nvSpPr>
        <p:spPr>
          <a:xfrm>
            <a:off x="1152550" y="861604"/>
            <a:ext cx="2275500" cy="463800"/>
          </a:xfrm>
          <a:prstGeom prst="snip2DiagRect">
            <a:avLst>
              <a:gd fmla="val 0" name="adj1"/>
              <a:gd fmla="val 21701" name="adj2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rPr>
              <a:t>ISO/IEC 27001</a:t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23" name="Google Shape;423;p57"/>
          <p:cNvSpPr/>
          <p:nvPr/>
        </p:nvSpPr>
        <p:spPr>
          <a:xfrm>
            <a:off x="5862575" y="861604"/>
            <a:ext cx="1837800" cy="463800"/>
          </a:xfrm>
          <a:prstGeom prst="snip2DiagRect">
            <a:avLst>
              <a:gd fmla="val 0" name="adj1"/>
              <a:gd fmla="val 21701" name="adj2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rPr>
              <a:t>CERT-In</a:t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24" name="Google Shape;424;p57"/>
          <p:cNvSpPr txBox="1"/>
          <p:nvPr>
            <p:ph idx="4294967295" type="title"/>
          </p:nvPr>
        </p:nvSpPr>
        <p:spPr>
          <a:xfrm>
            <a:off x="8068800" y="0"/>
            <a:ext cx="1075200" cy="82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03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ow-angle cinematic shot of a cargo ship on water. " id="429" name="Google Shape;429;p5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31488"/>
          <a:stretch/>
        </p:blipFill>
        <p:spPr>
          <a:xfrm>
            <a:off x="228600" y="220050"/>
            <a:ext cx="8686800" cy="4466400"/>
          </a:xfrm>
          <a:prstGeom prst="rect">
            <a:avLst/>
          </a:prstGeom>
        </p:spPr>
      </p:pic>
      <p:sp>
        <p:nvSpPr>
          <p:cNvPr id="430" name="Google Shape;430;p58"/>
          <p:cNvSpPr txBox="1"/>
          <p:nvPr>
            <p:ph type="title"/>
          </p:nvPr>
        </p:nvSpPr>
        <p:spPr>
          <a:xfrm>
            <a:off x="1734625" y="1113166"/>
            <a:ext cx="5674800" cy="18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Cert-In</a:t>
            </a:r>
            <a:r>
              <a:rPr lang="en" sz="3000"/>
              <a:t> and Resources Required for IIT Bombay</a:t>
            </a:r>
            <a:endParaRPr b="1" sz="3000"/>
          </a:p>
        </p:txBody>
      </p:sp>
      <p:sp>
        <p:nvSpPr>
          <p:cNvPr id="431" name="Google Shape;431;p58"/>
          <p:cNvSpPr/>
          <p:nvPr/>
        </p:nvSpPr>
        <p:spPr>
          <a:xfrm>
            <a:off x="3756325" y="3281150"/>
            <a:ext cx="1631400" cy="9957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32" name="Google Shape;432;p58"/>
          <p:cNvSpPr/>
          <p:nvPr/>
        </p:nvSpPr>
        <p:spPr>
          <a:xfrm>
            <a:off x="2124950" y="3281250"/>
            <a:ext cx="1631400" cy="995700"/>
          </a:xfrm>
          <a:prstGeom prst="snip2DiagRect">
            <a:avLst>
              <a:gd fmla="val 0" name="adj1"/>
              <a:gd fmla="val 21701" name="adj2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33" name="Google Shape;433;p58"/>
          <p:cNvSpPr/>
          <p:nvPr/>
        </p:nvSpPr>
        <p:spPr>
          <a:xfrm>
            <a:off x="5387700" y="3281250"/>
            <a:ext cx="1631400" cy="995700"/>
          </a:xfrm>
          <a:prstGeom prst="snip2DiagRect">
            <a:avLst>
              <a:gd fmla="val 0" name="adj1"/>
              <a:gd fmla="val 21701" name="adj2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34" name="Google Shape;434;p58"/>
          <p:cNvSpPr txBox="1"/>
          <p:nvPr/>
        </p:nvSpPr>
        <p:spPr>
          <a:xfrm>
            <a:off x="2293263" y="3903525"/>
            <a:ext cx="129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Tomorrow Medium"/>
              <a:ea typeface="Tomorrow Medium"/>
              <a:cs typeface="Tomorrow Medium"/>
              <a:sym typeface="Tomorrow Medium"/>
            </a:endParaRPr>
          </a:p>
        </p:txBody>
      </p:sp>
      <p:sp>
        <p:nvSpPr>
          <p:cNvPr id="435" name="Google Shape;435;p58"/>
          <p:cNvSpPr txBox="1"/>
          <p:nvPr/>
        </p:nvSpPr>
        <p:spPr>
          <a:xfrm>
            <a:off x="4050913" y="3834732"/>
            <a:ext cx="104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rPr>
              <a:t>02</a:t>
            </a:r>
            <a:endParaRPr sz="2600">
              <a:solidFill>
                <a:schemeClr val="accent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436" name="Google Shape;436;p58"/>
          <p:cNvSpPr txBox="1"/>
          <p:nvPr/>
        </p:nvSpPr>
        <p:spPr>
          <a:xfrm>
            <a:off x="3924613" y="3387722"/>
            <a:ext cx="129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rPr>
              <a:t>Part</a:t>
            </a:r>
            <a:endParaRPr sz="1000">
              <a:solidFill>
                <a:schemeClr val="dk1"/>
              </a:solidFill>
              <a:latin typeface="Tomorrow Medium"/>
              <a:ea typeface="Tomorrow Medium"/>
              <a:cs typeface="Tomorrow Medium"/>
              <a:sym typeface="Tomorrow Medium"/>
            </a:endParaRPr>
          </a:p>
        </p:txBody>
      </p:sp>
      <p:sp>
        <p:nvSpPr>
          <p:cNvPr id="437" name="Google Shape;437;p58"/>
          <p:cNvSpPr txBox="1"/>
          <p:nvPr/>
        </p:nvSpPr>
        <p:spPr>
          <a:xfrm>
            <a:off x="5555963" y="3903525"/>
            <a:ext cx="129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Tomorrow Medium"/>
              <a:ea typeface="Tomorrow Medium"/>
              <a:cs typeface="Tomorrow Medium"/>
              <a:sym typeface="Tomorrow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2" name="Google Shape;442;p59"/>
          <p:cNvCxnSpPr/>
          <p:nvPr/>
        </p:nvCxnSpPr>
        <p:spPr>
          <a:xfrm>
            <a:off x="421325" y="1154525"/>
            <a:ext cx="80730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3" name="Google Shape;443;p59"/>
          <p:cNvSpPr txBox="1"/>
          <p:nvPr>
            <p:ph idx="4" type="subTitle"/>
          </p:nvPr>
        </p:nvSpPr>
        <p:spPr>
          <a:xfrm>
            <a:off x="1421175" y="472450"/>
            <a:ext cx="5884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Human Resources for CERT-In Compliance</a:t>
            </a:r>
            <a:endParaRPr sz="2000"/>
          </a:p>
        </p:txBody>
      </p:sp>
      <p:sp>
        <p:nvSpPr>
          <p:cNvPr id="444" name="Google Shape;444;p59"/>
          <p:cNvSpPr txBox="1"/>
          <p:nvPr>
            <p:ph type="title"/>
          </p:nvPr>
        </p:nvSpPr>
        <p:spPr>
          <a:xfrm>
            <a:off x="421325" y="358100"/>
            <a:ext cx="823800" cy="59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45" name="Google Shape;445;p59"/>
          <p:cNvSpPr/>
          <p:nvPr/>
        </p:nvSpPr>
        <p:spPr>
          <a:xfrm>
            <a:off x="8541616" y="415938"/>
            <a:ext cx="166800" cy="166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46" name="Google Shape;446;p59"/>
          <p:cNvSpPr/>
          <p:nvPr/>
        </p:nvSpPr>
        <p:spPr>
          <a:xfrm>
            <a:off x="8527133" y="582862"/>
            <a:ext cx="195900" cy="1485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47" name="Google Shape;447;p59"/>
          <p:cNvSpPr txBox="1"/>
          <p:nvPr>
            <p:ph idx="1" type="body"/>
          </p:nvPr>
        </p:nvSpPr>
        <p:spPr>
          <a:xfrm>
            <a:off x="421325" y="1209125"/>
            <a:ext cx="5104500" cy="342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Appointment of a dedicated </a:t>
            </a:r>
            <a:r>
              <a:rPr b="1" lang="en" sz="1400"/>
              <a:t>Chief Information Security Officer</a:t>
            </a:r>
            <a:r>
              <a:rPr lang="en" sz="1400"/>
              <a:t> (CISO)</a:t>
            </a:r>
            <a:endParaRPr sz="1400"/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Designation of an </a:t>
            </a:r>
            <a:r>
              <a:rPr b="1" lang="en" sz="1400"/>
              <a:t>Information Security Officer (ISO) in each department</a:t>
            </a:r>
            <a:r>
              <a:rPr lang="en" sz="1400"/>
              <a:t>, reporting to the CISO and responsible for department-level security oversight</a:t>
            </a:r>
            <a:endParaRPr sz="1400"/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Formation of a </a:t>
            </a:r>
            <a:r>
              <a:rPr b="1" lang="en" sz="1400"/>
              <a:t>cybersecurity functional team</a:t>
            </a:r>
            <a:r>
              <a:rPr lang="en" sz="1400"/>
              <a:t> for</a:t>
            </a:r>
            <a:endParaRPr sz="1400"/>
          </a:p>
          <a:p>
            <a:pPr indent="-3175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Daily operations</a:t>
            </a:r>
            <a:endParaRPr sz="1400"/>
          </a:p>
          <a:p>
            <a:pPr indent="-3175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</a:t>
            </a:r>
            <a:r>
              <a:rPr lang="en" sz="1400"/>
              <a:t>ontinuous monitoring and incident response</a:t>
            </a:r>
            <a:endParaRPr sz="1400"/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Personnel for Staff responsible for </a:t>
            </a:r>
            <a:r>
              <a:rPr b="1" lang="en" sz="1400"/>
              <a:t>policy enforcement</a:t>
            </a:r>
            <a:r>
              <a:rPr lang="en" sz="1400"/>
              <a:t> and </a:t>
            </a:r>
            <a:r>
              <a:rPr b="1" lang="en" sz="1400"/>
              <a:t>compliance management</a:t>
            </a:r>
            <a:endParaRPr sz="1400"/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Support from </a:t>
            </a:r>
            <a:r>
              <a:rPr b="1" lang="en" sz="1400"/>
              <a:t>IT administrators</a:t>
            </a:r>
            <a:r>
              <a:rPr lang="en" sz="1400"/>
              <a:t> and </a:t>
            </a:r>
            <a:r>
              <a:rPr b="1" lang="en" sz="1400"/>
              <a:t>network engineers</a:t>
            </a:r>
            <a:r>
              <a:rPr lang="en" sz="1400"/>
              <a:t> for implementation</a:t>
            </a:r>
            <a:endParaRPr sz="1400"/>
          </a:p>
        </p:txBody>
      </p:sp>
      <p:pic>
        <p:nvPicPr>
          <p:cNvPr id="448" name="Google Shape;448;p59"/>
          <p:cNvPicPr preferRelativeResize="0"/>
          <p:nvPr/>
        </p:nvPicPr>
        <p:blipFill rotWithShape="1">
          <a:blip r:embed="rId3">
            <a:alphaModFix/>
          </a:blip>
          <a:srcRect b="0" l="6413" r="7387" t="0"/>
          <a:stretch/>
        </p:blipFill>
        <p:spPr>
          <a:xfrm>
            <a:off x="5525825" y="1605300"/>
            <a:ext cx="3387049" cy="2619551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59"/>
          <p:cNvSpPr txBox="1"/>
          <p:nvPr>
            <p:ph idx="13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is AI generated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4" name="Google Shape;454;p60"/>
          <p:cNvCxnSpPr/>
          <p:nvPr/>
        </p:nvCxnSpPr>
        <p:spPr>
          <a:xfrm>
            <a:off x="421325" y="1154525"/>
            <a:ext cx="80730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5" name="Google Shape;455;p60"/>
          <p:cNvSpPr txBox="1"/>
          <p:nvPr>
            <p:ph idx="2" type="subTitle"/>
          </p:nvPr>
        </p:nvSpPr>
        <p:spPr>
          <a:xfrm>
            <a:off x="1451650" y="472450"/>
            <a:ext cx="4554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Skills &amp; Experience Required</a:t>
            </a:r>
            <a:endParaRPr sz="2000"/>
          </a:p>
        </p:txBody>
      </p:sp>
      <p:sp>
        <p:nvSpPr>
          <p:cNvPr id="456" name="Google Shape;456;p60"/>
          <p:cNvSpPr txBox="1"/>
          <p:nvPr>
            <p:ph type="title"/>
          </p:nvPr>
        </p:nvSpPr>
        <p:spPr>
          <a:xfrm>
            <a:off x="421325" y="358100"/>
            <a:ext cx="823800" cy="59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57" name="Google Shape;457;p60"/>
          <p:cNvSpPr/>
          <p:nvPr/>
        </p:nvSpPr>
        <p:spPr>
          <a:xfrm>
            <a:off x="8541616" y="415938"/>
            <a:ext cx="166800" cy="166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58" name="Google Shape;458;p60"/>
          <p:cNvSpPr/>
          <p:nvPr/>
        </p:nvSpPr>
        <p:spPr>
          <a:xfrm>
            <a:off x="8527133" y="582862"/>
            <a:ext cx="195900" cy="1485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59" name="Google Shape;459;p60"/>
          <p:cNvSpPr txBox="1"/>
          <p:nvPr>
            <p:ph idx="8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is AI generated</a:t>
            </a:r>
            <a:endParaRPr/>
          </a:p>
        </p:txBody>
      </p:sp>
      <p:sp>
        <p:nvSpPr>
          <p:cNvPr id="460" name="Google Shape;460;p60"/>
          <p:cNvSpPr txBox="1"/>
          <p:nvPr>
            <p:ph idx="4" type="body"/>
          </p:nvPr>
        </p:nvSpPr>
        <p:spPr>
          <a:xfrm>
            <a:off x="421325" y="1220050"/>
            <a:ext cx="5351100" cy="342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Strong knowledge of </a:t>
            </a:r>
            <a:r>
              <a:rPr b="1" lang="en" sz="1400"/>
              <a:t>network security</a:t>
            </a:r>
            <a:r>
              <a:rPr lang="en" sz="1400"/>
              <a:t> and system hardening</a:t>
            </a:r>
            <a:endParaRPr sz="1400"/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Experience in </a:t>
            </a:r>
            <a:r>
              <a:rPr b="1" lang="en" sz="1400"/>
              <a:t>incident detection, response,</a:t>
            </a:r>
            <a:r>
              <a:rPr lang="en" sz="1400"/>
              <a:t> and </a:t>
            </a:r>
            <a:r>
              <a:rPr b="1" lang="en" sz="1400"/>
              <a:t>mitigation</a:t>
            </a:r>
            <a:endParaRPr b="1" sz="1400"/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Hands-on experience with tools such as:</a:t>
            </a:r>
            <a:endParaRPr sz="1400"/>
          </a:p>
          <a:p>
            <a:pPr indent="-3175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Firewalls and </a:t>
            </a:r>
            <a:r>
              <a:rPr b="1" lang="en" sz="1400"/>
              <a:t>Intrusion Detection Systems</a:t>
            </a:r>
            <a:endParaRPr b="1" sz="1400"/>
          </a:p>
          <a:p>
            <a:pPr indent="-3175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SIEM (Security Information and Event Management)</a:t>
            </a:r>
            <a:endParaRPr sz="1400"/>
          </a:p>
          <a:p>
            <a:pPr indent="-3175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Endpoint protection and backup systems</a:t>
            </a:r>
            <a:endParaRPr sz="1400"/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Understanding of risk assessment and security governance frameworks</a:t>
            </a:r>
            <a:endParaRPr sz="1400"/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Familiarity with compliance standards and </a:t>
            </a:r>
            <a:r>
              <a:rPr b="1" lang="en" sz="1400"/>
              <a:t>audit processes</a:t>
            </a:r>
            <a:endParaRPr b="1" sz="1400"/>
          </a:p>
        </p:txBody>
      </p:sp>
      <p:pic>
        <p:nvPicPr>
          <p:cNvPr id="461" name="Google Shape;46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2425" y="1962800"/>
            <a:ext cx="3066774" cy="2044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6" name="Google Shape;466;p61"/>
          <p:cNvCxnSpPr/>
          <p:nvPr/>
        </p:nvCxnSpPr>
        <p:spPr>
          <a:xfrm>
            <a:off x="421325" y="1154525"/>
            <a:ext cx="80730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7" name="Google Shape;467;p61"/>
          <p:cNvSpPr txBox="1"/>
          <p:nvPr>
            <p:ph idx="1" type="subTitle"/>
          </p:nvPr>
        </p:nvSpPr>
        <p:spPr>
          <a:xfrm>
            <a:off x="1423925" y="472450"/>
            <a:ext cx="4554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Financial and Resource Requirements </a:t>
            </a:r>
            <a:r>
              <a:rPr lang="en" sz="1600"/>
              <a:t>(</a:t>
            </a:r>
            <a:r>
              <a:rPr lang="en" sz="1600"/>
              <a:t>Estimated</a:t>
            </a:r>
            <a:r>
              <a:rPr lang="en" sz="1600"/>
              <a:t>)</a:t>
            </a:r>
            <a:endParaRPr sz="1600"/>
          </a:p>
        </p:txBody>
      </p:sp>
      <p:sp>
        <p:nvSpPr>
          <p:cNvPr id="468" name="Google Shape;468;p61"/>
          <p:cNvSpPr txBox="1"/>
          <p:nvPr>
            <p:ph type="title"/>
          </p:nvPr>
        </p:nvSpPr>
        <p:spPr>
          <a:xfrm>
            <a:off x="421325" y="358100"/>
            <a:ext cx="823800" cy="59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69" name="Google Shape;469;p61"/>
          <p:cNvSpPr txBox="1"/>
          <p:nvPr>
            <p:ph idx="8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is AI generated</a:t>
            </a:r>
            <a:endParaRPr/>
          </a:p>
        </p:txBody>
      </p:sp>
      <p:sp>
        <p:nvSpPr>
          <p:cNvPr id="470" name="Google Shape;470;p61"/>
          <p:cNvSpPr/>
          <p:nvPr/>
        </p:nvSpPr>
        <p:spPr>
          <a:xfrm>
            <a:off x="8541616" y="415938"/>
            <a:ext cx="166800" cy="166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71" name="Google Shape;471;p61"/>
          <p:cNvSpPr/>
          <p:nvPr/>
        </p:nvSpPr>
        <p:spPr>
          <a:xfrm>
            <a:off x="8527133" y="582862"/>
            <a:ext cx="195900" cy="1485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72" name="Google Shape;472;p61"/>
          <p:cNvSpPr txBox="1"/>
          <p:nvPr>
            <p:ph idx="3" type="body"/>
          </p:nvPr>
        </p:nvSpPr>
        <p:spPr>
          <a:xfrm>
            <a:off x="421325" y="1209125"/>
            <a:ext cx="5104500" cy="342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Salaries</a:t>
            </a:r>
            <a:r>
              <a:rPr b="1" lang="en" sz="1400"/>
              <a:t> </a:t>
            </a:r>
            <a:r>
              <a:rPr lang="en" sz="1400"/>
              <a:t>for CISO (</a:t>
            </a:r>
            <a:r>
              <a:rPr b="1" lang="en" sz="1400"/>
              <a:t>₹20 - ₹30 LPA</a:t>
            </a:r>
            <a:r>
              <a:rPr lang="en" sz="1400"/>
              <a:t>) and cybersecurity team members (</a:t>
            </a:r>
            <a:r>
              <a:rPr b="1" lang="en" sz="1400"/>
              <a:t>₹10 - ₹15 LPA per member</a:t>
            </a:r>
            <a:r>
              <a:rPr lang="en" sz="1400"/>
              <a:t>)</a:t>
            </a:r>
            <a:endParaRPr sz="1400"/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Investment in security infrastructure and tools</a:t>
            </a:r>
            <a:endParaRPr sz="1400"/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Budget for periodic internal and third-party security audits (</a:t>
            </a:r>
            <a:r>
              <a:rPr b="1" lang="en" sz="1400"/>
              <a:t>₹10-₹25 Lakhs/year</a:t>
            </a:r>
            <a:r>
              <a:rPr lang="en" sz="1400"/>
              <a:t>)</a:t>
            </a:r>
            <a:endParaRPr sz="1400"/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Costs for </a:t>
            </a:r>
            <a:r>
              <a:rPr b="1" lang="en" sz="1400"/>
              <a:t>training programs, certifications</a:t>
            </a:r>
            <a:r>
              <a:rPr lang="en" sz="1400"/>
              <a:t>, and awareness initiatives (</a:t>
            </a:r>
            <a:r>
              <a:rPr b="1" lang="en" sz="1400"/>
              <a:t>₹3 -₹5 Lakhs/year</a:t>
            </a:r>
            <a:r>
              <a:rPr lang="en" sz="1400"/>
              <a:t>)</a:t>
            </a:r>
            <a:endParaRPr sz="1400"/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Expenditure on backup, disaster recovery, and monitoring systems</a:t>
            </a:r>
            <a:endParaRPr sz="1400"/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Ongoing </a:t>
            </a:r>
            <a:r>
              <a:rPr b="1" lang="en" sz="1400"/>
              <a:t>budget for maintenance, upgrades</a:t>
            </a:r>
            <a:r>
              <a:rPr lang="en" sz="1400"/>
              <a:t>, and incident response readiness (</a:t>
            </a:r>
            <a:r>
              <a:rPr b="1" lang="en" sz="1400"/>
              <a:t>₹15 - ₹20 lakhs/year</a:t>
            </a:r>
            <a:r>
              <a:rPr lang="en" sz="1400"/>
              <a:t>)</a:t>
            </a:r>
            <a:endParaRPr sz="1400"/>
          </a:p>
        </p:txBody>
      </p:sp>
      <p:pic>
        <p:nvPicPr>
          <p:cNvPr id="473" name="Google Shape;47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5825" y="1880600"/>
            <a:ext cx="3313375" cy="2208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ow-angle cinematic shot of a cargo ship on water. " id="478" name="Google Shape;478;p6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31488"/>
          <a:stretch/>
        </p:blipFill>
        <p:spPr>
          <a:xfrm>
            <a:off x="228600" y="220050"/>
            <a:ext cx="8686800" cy="4466400"/>
          </a:xfrm>
          <a:prstGeom prst="rect">
            <a:avLst/>
          </a:prstGeom>
        </p:spPr>
      </p:pic>
      <p:sp>
        <p:nvSpPr>
          <p:cNvPr id="479" name="Google Shape;479;p62"/>
          <p:cNvSpPr txBox="1"/>
          <p:nvPr>
            <p:ph type="title"/>
          </p:nvPr>
        </p:nvSpPr>
        <p:spPr>
          <a:xfrm>
            <a:off x="1734625" y="1113166"/>
            <a:ext cx="5674800" cy="18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Cert-In</a:t>
            </a:r>
            <a:r>
              <a:rPr lang="en" sz="3000"/>
              <a:t> and Resources Availability at IIT Bombay</a:t>
            </a:r>
            <a:endParaRPr b="1"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</p:txBody>
      </p:sp>
      <p:sp>
        <p:nvSpPr>
          <p:cNvPr id="480" name="Google Shape;480;p62"/>
          <p:cNvSpPr/>
          <p:nvPr/>
        </p:nvSpPr>
        <p:spPr>
          <a:xfrm>
            <a:off x="3756325" y="3281150"/>
            <a:ext cx="1631400" cy="9957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81" name="Google Shape;481;p62"/>
          <p:cNvSpPr/>
          <p:nvPr/>
        </p:nvSpPr>
        <p:spPr>
          <a:xfrm>
            <a:off x="2124950" y="3281250"/>
            <a:ext cx="1631400" cy="995700"/>
          </a:xfrm>
          <a:prstGeom prst="snip2DiagRect">
            <a:avLst>
              <a:gd fmla="val 0" name="adj1"/>
              <a:gd fmla="val 21701" name="adj2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82" name="Google Shape;482;p62"/>
          <p:cNvSpPr/>
          <p:nvPr/>
        </p:nvSpPr>
        <p:spPr>
          <a:xfrm>
            <a:off x="5387700" y="3281250"/>
            <a:ext cx="1631400" cy="995700"/>
          </a:xfrm>
          <a:prstGeom prst="snip2DiagRect">
            <a:avLst>
              <a:gd fmla="val 0" name="adj1"/>
              <a:gd fmla="val 21701" name="adj2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83" name="Google Shape;483;p62"/>
          <p:cNvSpPr txBox="1"/>
          <p:nvPr/>
        </p:nvSpPr>
        <p:spPr>
          <a:xfrm>
            <a:off x="2293263" y="3903525"/>
            <a:ext cx="129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Tomorrow Medium"/>
              <a:ea typeface="Tomorrow Medium"/>
              <a:cs typeface="Tomorrow Medium"/>
              <a:sym typeface="Tomorrow Medium"/>
            </a:endParaRPr>
          </a:p>
        </p:txBody>
      </p:sp>
      <p:sp>
        <p:nvSpPr>
          <p:cNvPr id="484" name="Google Shape;484;p62"/>
          <p:cNvSpPr txBox="1"/>
          <p:nvPr/>
        </p:nvSpPr>
        <p:spPr>
          <a:xfrm>
            <a:off x="4050913" y="3834732"/>
            <a:ext cx="104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rPr>
              <a:t>03</a:t>
            </a:r>
            <a:endParaRPr sz="2600">
              <a:solidFill>
                <a:schemeClr val="accent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485" name="Google Shape;485;p62"/>
          <p:cNvSpPr txBox="1"/>
          <p:nvPr/>
        </p:nvSpPr>
        <p:spPr>
          <a:xfrm>
            <a:off x="3924613" y="3387722"/>
            <a:ext cx="129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rPr>
              <a:t>Part</a:t>
            </a:r>
            <a:endParaRPr sz="1000">
              <a:solidFill>
                <a:schemeClr val="dk1"/>
              </a:solidFill>
              <a:latin typeface="Tomorrow Medium"/>
              <a:ea typeface="Tomorrow Medium"/>
              <a:cs typeface="Tomorrow Medium"/>
              <a:sym typeface="Tomorrow Medium"/>
            </a:endParaRPr>
          </a:p>
        </p:txBody>
      </p:sp>
      <p:sp>
        <p:nvSpPr>
          <p:cNvPr id="486" name="Google Shape;486;p62"/>
          <p:cNvSpPr txBox="1"/>
          <p:nvPr/>
        </p:nvSpPr>
        <p:spPr>
          <a:xfrm>
            <a:off x="5555963" y="3903525"/>
            <a:ext cx="129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Tomorrow Medium"/>
              <a:ea typeface="Tomorrow Medium"/>
              <a:cs typeface="Tomorrow Medium"/>
              <a:sym typeface="Tomorrow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1" name="Google Shape;491;p63"/>
          <p:cNvCxnSpPr/>
          <p:nvPr/>
        </p:nvCxnSpPr>
        <p:spPr>
          <a:xfrm>
            <a:off x="421325" y="1154525"/>
            <a:ext cx="80730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2" name="Google Shape;492;p63"/>
          <p:cNvSpPr txBox="1"/>
          <p:nvPr>
            <p:ph idx="1" type="body"/>
          </p:nvPr>
        </p:nvSpPr>
        <p:spPr>
          <a:xfrm>
            <a:off x="440700" y="1742350"/>
            <a:ext cx="8381400" cy="27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A</a:t>
            </a:r>
            <a:r>
              <a:rPr lang="en" sz="1400"/>
              <a:t> dedicated </a:t>
            </a:r>
            <a:r>
              <a:rPr b="1" lang="en" sz="1400"/>
              <a:t>Chief Information Security Officer</a:t>
            </a:r>
            <a:r>
              <a:rPr lang="en" sz="1400"/>
              <a:t> (CISO)                                                      </a:t>
            </a:r>
            <a:r>
              <a:rPr b="1" lang="en" sz="1400"/>
              <a:t>– </a:t>
            </a:r>
            <a:r>
              <a:rPr b="1" lang="en" sz="1400">
                <a:solidFill>
                  <a:srgbClr val="FF0000"/>
                </a:solidFill>
              </a:rPr>
              <a:t>NOT AVAILABLE</a:t>
            </a:r>
            <a:endParaRPr b="1" sz="1400">
              <a:solidFill>
                <a:srgbClr val="FF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Designation of an I</a:t>
            </a:r>
            <a:r>
              <a:rPr b="1" lang="en" sz="1400"/>
              <a:t>nformation Security Officer (ISO)                                                             – </a:t>
            </a:r>
            <a:r>
              <a:rPr b="1" lang="en" sz="1400">
                <a:solidFill>
                  <a:srgbClr val="FF0000"/>
                </a:solidFill>
              </a:rPr>
              <a:t>NOT AVAILABLE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Personnel for Staff responsible for </a:t>
            </a:r>
            <a:r>
              <a:rPr b="1" lang="en" sz="1400"/>
              <a:t>policy enforcement</a:t>
            </a:r>
            <a:r>
              <a:rPr lang="en" sz="1400"/>
              <a:t> and </a:t>
            </a:r>
            <a:r>
              <a:rPr b="1" lang="en" sz="1400"/>
              <a:t>compliance management                                                             													            – </a:t>
            </a:r>
            <a:r>
              <a:rPr b="1" lang="en" sz="1400">
                <a:solidFill>
                  <a:srgbClr val="FF0000"/>
                </a:solidFill>
              </a:rPr>
              <a:t>NOT AVAILABLE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Formation of a </a:t>
            </a:r>
            <a:r>
              <a:rPr b="1" lang="en" sz="1400"/>
              <a:t>cybersecurity functional team</a:t>
            </a:r>
            <a:r>
              <a:rPr lang="en" sz="1400"/>
              <a:t> for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Daily operations							                               	            </a:t>
            </a:r>
            <a:r>
              <a:rPr b="1" lang="en" sz="1400"/>
              <a:t>– </a:t>
            </a:r>
            <a:r>
              <a:rPr b="1" lang="en" sz="1400">
                <a:solidFill>
                  <a:srgbClr val="FF0000"/>
                </a:solidFill>
              </a:rPr>
              <a:t>NOT AVAILABLE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Continuous monitoring and incident response</a:t>
            </a:r>
            <a:r>
              <a:rPr b="1" lang="en" sz="1400"/>
              <a:t>                         												                          </a:t>
            </a:r>
            <a:endParaRPr b="1" sz="1400">
              <a:solidFill>
                <a:srgbClr val="FF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Support from </a:t>
            </a:r>
            <a:r>
              <a:rPr b="1" lang="en" sz="1400"/>
              <a:t>IT administrators</a:t>
            </a:r>
            <a:r>
              <a:rPr lang="en" sz="1400"/>
              <a:t> and </a:t>
            </a:r>
            <a:r>
              <a:rPr b="1" lang="en" sz="1400"/>
              <a:t>network engineers</a:t>
            </a:r>
            <a:r>
              <a:rPr lang="en" sz="1400"/>
              <a:t> for implementation      </a:t>
            </a:r>
            <a:r>
              <a:rPr b="1" lang="en" sz="1400"/>
              <a:t>– </a:t>
            </a:r>
            <a:r>
              <a:rPr b="1" lang="en" sz="1400">
                <a:solidFill>
                  <a:srgbClr val="93C47D"/>
                </a:solidFill>
              </a:rPr>
              <a:t>AVAILABLE</a:t>
            </a:r>
            <a:endParaRPr sz="1400">
              <a:solidFill>
                <a:srgbClr val="93C47D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93" name="Google Shape;493;p63"/>
          <p:cNvSpPr txBox="1"/>
          <p:nvPr>
            <p:ph idx="4" type="subTitle"/>
          </p:nvPr>
        </p:nvSpPr>
        <p:spPr>
          <a:xfrm>
            <a:off x="1443025" y="469375"/>
            <a:ext cx="661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Human Resources for CERT-In Compliance?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63"/>
          <p:cNvSpPr txBox="1"/>
          <p:nvPr>
            <p:ph type="title"/>
          </p:nvPr>
        </p:nvSpPr>
        <p:spPr>
          <a:xfrm>
            <a:off x="421325" y="358100"/>
            <a:ext cx="823800" cy="59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95" name="Google Shape;495;p63"/>
          <p:cNvSpPr/>
          <p:nvPr/>
        </p:nvSpPr>
        <p:spPr>
          <a:xfrm>
            <a:off x="8541616" y="415938"/>
            <a:ext cx="166800" cy="166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96" name="Google Shape;496;p63"/>
          <p:cNvSpPr/>
          <p:nvPr/>
        </p:nvSpPr>
        <p:spPr>
          <a:xfrm>
            <a:off x="8527133" y="582862"/>
            <a:ext cx="195900" cy="1485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4"/>
          <p:cNvSpPr txBox="1"/>
          <p:nvPr>
            <p:ph idx="4" type="subTitle"/>
          </p:nvPr>
        </p:nvSpPr>
        <p:spPr>
          <a:xfrm>
            <a:off x="1443025" y="469375"/>
            <a:ext cx="661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CC staff and Cybersecurity staff overlap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64"/>
          <p:cNvSpPr txBox="1"/>
          <p:nvPr>
            <p:ph type="title"/>
          </p:nvPr>
        </p:nvSpPr>
        <p:spPr>
          <a:xfrm>
            <a:off x="421325" y="358100"/>
            <a:ext cx="823800" cy="59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03" name="Google Shape;503;p64"/>
          <p:cNvSpPr/>
          <p:nvPr/>
        </p:nvSpPr>
        <p:spPr>
          <a:xfrm>
            <a:off x="8541616" y="415938"/>
            <a:ext cx="166800" cy="166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04" name="Google Shape;504;p64"/>
          <p:cNvSpPr/>
          <p:nvPr/>
        </p:nvSpPr>
        <p:spPr>
          <a:xfrm>
            <a:off x="8527133" y="582862"/>
            <a:ext cx="195900" cy="1485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505" name="Google Shape;505;p64" title="Screenshot 2026-03-28 at 7.51.4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1300" y="949100"/>
            <a:ext cx="5761731" cy="3730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64" title="Screenshot 2026-03-28 at 8.12.47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150" y="949100"/>
            <a:ext cx="2426275" cy="3730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5"/>
          <p:cNvSpPr txBox="1"/>
          <p:nvPr>
            <p:ph idx="4" type="subTitle"/>
          </p:nvPr>
        </p:nvSpPr>
        <p:spPr>
          <a:xfrm>
            <a:off x="1443025" y="469375"/>
            <a:ext cx="661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Skills required by – </a:t>
            </a:r>
            <a:r>
              <a:rPr lang="en" sz="2000">
                <a:solidFill>
                  <a:srgbClr val="FF0000"/>
                </a:solidFill>
              </a:rPr>
              <a:t>Cybersecurity Team (???)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65"/>
          <p:cNvSpPr txBox="1"/>
          <p:nvPr>
            <p:ph type="title"/>
          </p:nvPr>
        </p:nvSpPr>
        <p:spPr>
          <a:xfrm>
            <a:off x="421325" y="358100"/>
            <a:ext cx="823800" cy="59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13" name="Google Shape;513;p65"/>
          <p:cNvSpPr/>
          <p:nvPr/>
        </p:nvSpPr>
        <p:spPr>
          <a:xfrm>
            <a:off x="8541616" y="415938"/>
            <a:ext cx="166800" cy="166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14" name="Google Shape;514;p65"/>
          <p:cNvSpPr/>
          <p:nvPr/>
        </p:nvSpPr>
        <p:spPr>
          <a:xfrm>
            <a:off x="8527133" y="582862"/>
            <a:ext cx="195900" cy="1485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15" name="Google Shape;515;p65"/>
          <p:cNvSpPr txBox="1"/>
          <p:nvPr>
            <p:ph idx="1" type="body"/>
          </p:nvPr>
        </p:nvSpPr>
        <p:spPr>
          <a:xfrm>
            <a:off x="421050" y="1392625"/>
            <a:ext cx="8301900" cy="293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Strong knowledge of network security and system hardening                                      </a:t>
            </a:r>
            <a:r>
              <a:rPr b="1" lang="en" sz="1400"/>
              <a:t>– </a:t>
            </a:r>
            <a:r>
              <a:rPr b="1" lang="en" sz="1400">
                <a:solidFill>
                  <a:srgbClr val="93C47D"/>
                </a:solidFill>
              </a:rPr>
              <a:t>AVAILABLE</a:t>
            </a:r>
            <a:endParaRPr b="1" sz="1400">
              <a:solidFill>
                <a:srgbClr val="93C47D"/>
              </a:solidFill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Experience in incident detection, response, and mitigation</a:t>
            </a:r>
            <a:r>
              <a:rPr lang="en" sz="1400"/>
              <a:t>                                            </a:t>
            </a:r>
            <a:r>
              <a:rPr b="1" lang="en" sz="1400"/>
              <a:t>– </a:t>
            </a:r>
            <a:r>
              <a:rPr b="1" lang="en" sz="1400">
                <a:solidFill>
                  <a:srgbClr val="FF0000"/>
                </a:solidFill>
              </a:rPr>
              <a:t>NOT AVAILABLE</a:t>
            </a:r>
            <a:endParaRPr sz="1400">
              <a:solidFill>
                <a:srgbClr val="FF0000"/>
              </a:solidFill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Hands-on experience with tools such as:</a:t>
            </a:r>
            <a:endParaRPr sz="1400"/>
          </a:p>
          <a:p>
            <a:pPr indent="-3175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Firewalls and Intrusion Detection Systems </a:t>
            </a:r>
            <a:r>
              <a:rPr lang="en" sz="1400"/>
              <a:t>                                                                   </a:t>
            </a:r>
            <a:r>
              <a:rPr b="1" lang="en" sz="1400"/>
              <a:t>– </a:t>
            </a:r>
            <a:r>
              <a:rPr b="1" lang="en" sz="1400">
                <a:solidFill>
                  <a:srgbClr val="FF0000"/>
                </a:solidFill>
              </a:rPr>
              <a:t>NOT AVAILABLE</a:t>
            </a:r>
            <a:endParaRPr sz="1400">
              <a:solidFill>
                <a:srgbClr val="FF0000"/>
              </a:solidFill>
            </a:endParaRPr>
          </a:p>
          <a:p>
            <a:pPr indent="-3175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SIEM (Security Information and Event Management)  </a:t>
            </a:r>
            <a:r>
              <a:rPr lang="en" sz="1400"/>
              <a:t>                                          </a:t>
            </a:r>
            <a:r>
              <a:rPr b="1" lang="en" sz="1400"/>
              <a:t>– </a:t>
            </a:r>
            <a:r>
              <a:rPr b="1" lang="en" sz="1400">
                <a:solidFill>
                  <a:srgbClr val="FF0000"/>
                </a:solidFill>
              </a:rPr>
              <a:t>NOT AVAILABLE</a:t>
            </a:r>
            <a:endParaRPr sz="1400"/>
          </a:p>
          <a:p>
            <a:pPr indent="-3175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Endpoint protection and backup systems</a:t>
            </a:r>
            <a:r>
              <a:rPr lang="en" sz="1400"/>
              <a:t>     				                      </a:t>
            </a:r>
            <a:r>
              <a:rPr b="1" lang="en" sz="1400"/>
              <a:t>– </a:t>
            </a:r>
            <a:r>
              <a:rPr b="1" lang="en" sz="1400">
                <a:solidFill>
                  <a:srgbClr val="93C47D"/>
                </a:solidFill>
              </a:rPr>
              <a:t>AVAILABLE</a:t>
            </a:r>
            <a:endParaRPr sz="1400"/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Understanding of risk assessment and security governance frameworks             </a:t>
            </a:r>
            <a:r>
              <a:rPr b="1" lang="en" sz="1400"/>
              <a:t>– </a:t>
            </a:r>
            <a:r>
              <a:rPr b="1" lang="en" sz="1400">
                <a:solidFill>
                  <a:srgbClr val="93C47D"/>
                </a:solidFill>
              </a:rPr>
              <a:t>AVAILABLE</a:t>
            </a:r>
            <a:r>
              <a:rPr lang="en" sz="1400"/>
              <a:t> </a:t>
            </a:r>
            <a:endParaRPr sz="1400"/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Familiarity with compliance standards and audit processes			        </a:t>
            </a:r>
            <a:r>
              <a:rPr b="1" lang="en" sz="1400"/>
              <a:t>– </a:t>
            </a:r>
            <a:r>
              <a:rPr b="1" lang="en" sz="1400">
                <a:solidFill>
                  <a:srgbClr val="93C47D"/>
                </a:solidFill>
              </a:rPr>
              <a:t>AVAILABLE</a:t>
            </a:r>
            <a:endParaRPr sz="1400">
              <a:solidFill>
                <a:srgbClr val="93C47D"/>
              </a:solidFill>
            </a:endParaRPr>
          </a:p>
        </p:txBody>
      </p:sp>
      <p:cxnSp>
        <p:nvCxnSpPr>
          <p:cNvPr id="516" name="Google Shape;516;p65"/>
          <p:cNvCxnSpPr/>
          <p:nvPr/>
        </p:nvCxnSpPr>
        <p:spPr>
          <a:xfrm>
            <a:off x="421325" y="1154525"/>
            <a:ext cx="80730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6"/>
          <p:cNvSpPr txBox="1"/>
          <p:nvPr>
            <p:ph idx="4" type="subTitle"/>
          </p:nvPr>
        </p:nvSpPr>
        <p:spPr>
          <a:xfrm>
            <a:off x="1443025" y="469375"/>
            <a:ext cx="661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Incident Handling Examples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66"/>
          <p:cNvSpPr txBox="1"/>
          <p:nvPr>
            <p:ph type="title"/>
          </p:nvPr>
        </p:nvSpPr>
        <p:spPr>
          <a:xfrm>
            <a:off x="421325" y="358100"/>
            <a:ext cx="823800" cy="59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23" name="Google Shape;523;p66"/>
          <p:cNvSpPr/>
          <p:nvPr/>
        </p:nvSpPr>
        <p:spPr>
          <a:xfrm>
            <a:off x="8541616" y="415938"/>
            <a:ext cx="166800" cy="166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4" name="Google Shape;524;p66"/>
          <p:cNvSpPr/>
          <p:nvPr/>
        </p:nvSpPr>
        <p:spPr>
          <a:xfrm>
            <a:off x="8527133" y="582862"/>
            <a:ext cx="195900" cy="1485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525" name="Google Shape;525;p66"/>
          <p:cNvCxnSpPr/>
          <p:nvPr/>
        </p:nvCxnSpPr>
        <p:spPr>
          <a:xfrm>
            <a:off x="421325" y="1154525"/>
            <a:ext cx="80730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6" name="Google Shape;526;p66" title="Screenshot 2026-03-28 at 8.47.0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776" y="1213650"/>
            <a:ext cx="2311801" cy="3448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66" title="Screenshot 2026-03-28 at 8.56.3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5338" y="1213650"/>
            <a:ext cx="3440611" cy="3448776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66"/>
          <p:cNvSpPr txBox="1"/>
          <p:nvPr/>
        </p:nvSpPr>
        <p:spPr>
          <a:xfrm>
            <a:off x="6516400" y="2457584"/>
            <a:ext cx="23058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</a:t>
            </a:r>
            <a:r>
              <a:rPr lang="en" sz="1100">
                <a:solidFill>
                  <a:schemeClr val="dk1"/>
                </a:solidFill>
              </a:rPr>
              <a:t>on admin users are used by staff for normal.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Prod server access is being handled by designated employee only with designated credentials.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Logs are properly maintained. (dumped and transferred to academic office).</a:t>
            </a:r>
            <a:endParaRPr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9" name="Google Shape;529;p66"/>
          <p:cNvSpPr txBox="1"/>
          <p:nvPr>
            <p:ph idx="4" type="subTitle"/>
          </p:nvPr>
        </p:nvSpPr>
        <p:spPr>
          <a:xfrm>
            <a:off x="6592375" y="1248675"/>
            <a:ext cx="2311800" cy="10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In Application Software Cell (</a:t>
            </a:r>
            <a:r>
              <a:rPr b="1" lang="en" sz="2000"/>
              <a:t>ASC</a:t>
            </a:r>
            <a:r>
              <a:rPr lang="en" sz="2000"/>
              <a:t>) IIT Bombay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4" name="Google Shape;534;p67"/>
          <p:cNvCxnSpPr/>
          <p:nvPr/>
        </p:nvCxnSpPr>
        <p:spPr>
          <a:xfrm>
            <a:off x="421325" y="1154525"/>
            <a:ext cx="80730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5" name="Google Shape;535;p67"/>
          <p:cNvSpPr txBox="1"/>
          <p:nvPr>
            <p:ph idx="1" type="subTitle"/>
          </p:nvPr>
        </p:nvSpPr>
        <p:spPr>
          <a:xfrm>
            <a:off x="1423925" y="472450"/>
            <a:ext cx="68661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Are </a:t>
            </a:r>
            <a:r>
              <a:rPr lang="en" sz="2000"/>
              <a:t>Financial and Resources Given?</a:t>
            </a:r>
            <a:endParaRPr sz="1600"/>
          </a:p>
        </p:txBody>
      </p:sp>
      <p:sp>
        <p:nvSpPr>
          <p:cNvPr id="536" name="Google Shape;536;p67"/>
          <p:cNvSpPr txBox="1"/>
          <p:nvPr>
            <p:ph type="title"/>
          </p:nvPr>
        </p:nvSpPr>
        <p:spPr>
          <a:xfrm>
            <a:off x="421325" y="358100"/>
            <a:ext cx="823800" cy="59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37" name="Google Shape;537;p67"/>
          <p:cNvSpPr/>
          <p:nvPr/>
        </p:nvSpPr>
        <p:spPr>
          <a:xfrm>
            <a:off x="8541616" y="415938"/>
            <a:ext cx="166800" cy="166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38" name="Google Shape;538;p67"/>
          <p:cNvSpPr/>
          <p:nvPr/>
        </p:nvSpPr>
        <p:spPr>
          <a:xfrm>
            <a:off x="8527133" y="582862"/>
            <a:ext cx="195900" cy="1485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39" name="Google Shape;539;p67"/>
          <p:cNvSpPr txBox="1"/>
          <p:nvPr>
            <p:ph idx="3" type="body"/>
          </p:nvPr>
        </p:nvSpPr>
        <p:spPr>
          <a:xfrm>
            <a:off x="421325" y="1209125"/>
            <a:ext cx="5116200" cy="342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Salaries</a:t>
            </a:r>
            <a:r>
              <a:rPr b="1" lang="en" sz="1400"/>
              <a:t> </a:t>
            </a:r>
            <a:r>
              <a:rPr lang="en" sz="1400"/>
              <a:t>for CISO (</a:t>
            </a:r>
            <a:r>
              <a:rPr b="1" lang="en" sz="1400"/>
              <a:t>₹20 - ₹30 LPA</a:t>
            </a:r>
            <a:r>
              <a:rPr lang="en" sz="1400"/>
              <a:t>) and cybersecurity team members (</a:t>
            </a:r>
            <a:r>
              <a:rPr b="1" lang="en" sz="1400"/>
              <a:t>₹10 - ₹12 LPA per member</a:t>
            </a:r>
            <a:r>
              <a:rPr lang="en" sz="1400"/>
              <a:t>)</a:t>
            </a:r>
            <a:endParaRPr sz="1400"/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Investment in security infrastructure and tools</a:t>
            </a:r>
            <a:endParaRPr sz="1400"/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Budget for periodic internal and third-party security audits </a:t>
            </a:r>
            <a:endParaRPr sz="1400"/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Costs for </a:t>
            </a:r>
            <a:r>
              <a:rPr b="1" lang="en" sz="1400"/>
              <a:t>training programs, certifications</a:t>
            </a:r>
            <a:r>
              <a:rPr lang="en" sz="1400"/>
              <a:t>, and awareness initiatives (</a:t>
            </a:r>
            <a:r>
              <a:rPr b="1" lang="en" sz="1400"/>
              <a:t>₹3 -₹5 Lakhs/year</a:t>
            </a:r>
            <a:r>
              <a:rPr lang="en" sz="1400"/>
              <a:t>)</a:t>
            </a:r>
            <a:endParaRPr sz="1400"/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Expenditure on backup, disaster recovery, and monitoring systems</a:t>
            </a:r>
            <a:endParaRPr sz="1400"/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Ongoing </a:t>
            </a:r>
            <a:r>
              <a:rPr b="1" lang="en" sz="1400"/>
              <a:t>budget for maintenance, upgrades</a:t>
            </a:r>
            <a:r>
              <a:rPr lang="en" sz="1400"/>
              <a:t>, and incident response readiness (</a:t>
            </a:r>
            <a:r>
              <a:rPr b="1" lang="en" sz="1400"/>
              <a:t>₹15 - ₹20 lakhs/year</a:t>
            </a:r>
            <a:r>
              <a:rPr lang="en" sz="1400"/>
              <a:t>)</a:t>
            </a:r>
            <a:endParaRPr sz="1400"/>
          </a:p>
        </p:txBody>
      </p:sp>
      <p:sp>
        <p:nvSpPr>
          <p:cNvPr id="540" name="Google Shape;540;p67"/>
          <p:cNvSpPr txBox="1"/>
          <p:nvPr/>
        </p:nvSpPr>
        <p:spPr>
          <a:xfrm>
            <a:off x="6503275" y="1467300"/>
            <a:ext cx="21414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– NOT GIVEN</a:t>
            </a:r>
            <a:endParaRPr b="1">
              <a:solidFill>
                <a:srgbClr val="FF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– NOT GIVEN</a:t>
            </a:r>
            <a:endParaRPr b="1">
              <a:solidFill>
                <a:srgbClr val="FF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3C47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– PARTIALLY GIVEN</a:t>
            </a:r>
            <a:endParaRPr b="1">
              <a:solidFill>
                <a:srgbClr val="FF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3C47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– PARTIALLY GIVEN</a:t>
            </a:r>
            <a:endParaRPr b="1">
              <a:solidFill>
                <a:srgbClr val="93C47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3C47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– GIVEN</a:t>
            </a:r>
            <a:endParaRPr b="1">
              <a:solidFill>
                <a:srgbClr val="93C47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3C47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3C47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3C47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– GIVEN</a:t>
            </a:r>
            <a:endParaRPr b="1">
              <a:solidFill>
                <a:srgbClr val="93C47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8"/>
          <p:cNvSpPr txBox="1"/>
          <p:nvPr>
            <p:ph type="title"/>
          </p:nvPr>
        </p:nvSpPr>
        <p:spPr>
          <a:xfrm>
            <a:off x="228600" y="354100"/>
            <a:ext cx="85746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</a:t>
            </a:r>
            <a:r>
              <a:rPr lang="en">
                <a:solidFill>
                  <a:schemeClr val="accent1"/>
                </a:solidFill>
              </a:rPr>
              <a:t>you</a:t>
            </a:r>
            <a:endParaRPr>
              <a:solidFill>
                <a:schemeClr val="accent1"/>
              </a:solidFill>
            </a:endParaRPr>
          </a:p>
        </p:txBody>
      </p:sp>
      <p:cxnSp>
        <p:nvCxnSpPr>
          <p:cNvPr id="546" name="Google Shape;546;p68"/>
          <p:cNvCxnSpPr/>
          <p:nvPr/>
        </p:nvCxnSpPr>
        <p:spPr>
          <a:xfrm>
            <a:off x="228600" y="223650"/>
            <a:ext cx="86868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68"/>
          <p:cNvCxnSpPr/>
          <p:nvPr/>
        </p:nvCxnSpPr>
        <p:spPr>
          <a:xfrm>
            <a:off x="228600" y="4703250"/>
            <a:ext cx="86868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48" name="Google Shape;548;p68" title="image-removebg-preview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7150" y="1845750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9"/>
          <p:cNvSpPr txBox="1"/>
          <p:nvPr>
            <p:ph type="title"/>
          </p:nvPr>
        </p:nvSpPr>
        <p:spPr>
          <a:xfrm>
            <a:off x="896455" y="662381"/>
            <a:ext cx="5642100" cy="94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discuss!</a:t>
            </a:r>
            <a:endParaRPr/>
          </a:p>
        </p:txBody>
      </p:sp>
      <p:sp>
        <p:nvSpPr>
          <p:cNvPr id="554" name="Google Shape;554;p69"/>
          <p:cNvSpPr txBox="1"/>
          <p:nvPr>
            <p:ph idx="1" type="subTitle"/>
          </p:nvPr>
        </p:nvSpPr>
        <p:spPr>
          <a:xfrm>
            <a:off x="424500" y="415950"/>
            <a:ext cx="2427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feedback</a:t>
            </a:r>
            <a:endParaRPr/>
          </a:p>
        </p:txBody>
      </p:sp>
      <p:grpSp>
        <p:nvGrpSpPr>
          <p:cNvPr id="555" name="Google Shape;555;p69"/>
          <p:cNvGrpSpPr/>
          <p:nvPr/>
        </p:nvGrpSpPr>
        <p:grpSpPr>
          <a:xfrm>
            <a:off x="8128500" y="415950"/>
            <a:ext cx="591000" cy="591000"/>
            <a:chOff x="8018750" y="442675"/>
            <a:chExt cx="591000" cy="591000"/>
          </a:xfrm>
        </p:grpSpPr>
        <p:sp>
          <p:nvSpPr>
            <p:cNvPr id="556" name="Google Shape;556;p69"/>
            <p:cNvSpPr/>
            <p:nvPr/>
          </p:nvSpPr>
          <p:spPr>
            <a:xfrm>
              <a:off x="8018750" y="442675"/>
              <a:ext cx="591000" cy="591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557" name="Google Shape;557;p69"/>
            <p:cNvSpPr/>
            <p:nvPr/>
          </p:nvSpPr>
          <p:spPr>
            <a:xfrm flipH="1" rot="10800000">
              <a:off x="8039900" y="463825"/>
              <a:ext cx="548700" cy="548700"/>
            </a:xfrm>
            <a:prstGeom prst="pie">
              <a:avLst>
                <a:gd fmla="val 0" name="adj1"/>
                <a:gd fmla="val 5424392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558" name="Google Shape;558;p69"/>
            <p:cNvSpPr/>
            <p:nvPr/>
          </p:nvSpPr>
          <p:spPr>
            <a:xfrm>
              <a:off x="8059250" y="483175"/>
              <a:ext cx="510000" cy="51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559" name="Google Shape;559;p69"/>
            <p:cNvSpPr txBox="1"/>
            <p:nvPr/>
          </p:nvSpPr>
          <p:spPr>
            <a:xfrm>
              <a:off x="8064800" y="615025"/>
              <a:ext cx="498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2"/>
                  </a:solidFill>
                  <a:latin typeface="Tomorrow"/>
                  <a:ea typeface="Tomorrow"/>
                  <a:cs typeface="Tomorrow"/>
                  <a:sym typeface="Tomorrow"/>
                </a:rPr>
                <a:t>10’</a:t>
              </a:r>
              <a:endParaRPr sz="1600">
                <a:solidFill>
                  <a:schemeClr val="dk2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</p:grpSp>
      <p:pic>
        <p:nvPicPr>
          <p:cNvPr id="560" name="Google Shape;560;p69" title="1679311775037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065" y="1683904"/>
            <a:ext cx="1470900" cy="14709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61" name="Google Shape;561;p69"/>
          <p:cNvSpPr txBox="1"/>
          <p:nvPr>
            <p:ph idx="4294967295" type="body"/>
          </p:nvPr>
        </p:nvSpPr>
        <p:spPr>
          <a:xfrm>
            <a:off x="679636" y="3282322"/>
            <a:ext cx="1947900" cy="390000"/>
          </a:xfrm>
          <a:prstGeom prst="rect">
            <a:avLst/>
          </a:prstGeom>
        </p:spPr>
        <p:txBody>
          <a:bodyPr anchorCtr="0" anchor="t" bIns="81775" lIns="81775" spcFirstLastPara="1" rIns="81775" wrap="square" tIns="81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21">
                <a:solidFill>
                  <a:schemeClr val="accent2"/>
                </a:solidFill>
              </a:rPr>
              <a:t>Akshit</a:t>
            </a:r>
            <a:r>
              <a:rPr lang="en" sz="1521">
                <a:solidFill>
                  <a:schemeClr val="dk1"/>
                </a:solidFill>
              </a:rPr>
              <a:t> Varmora</a:t>
            </a:r>
            <a:endParaRPr sz="1521">
              <a:solidFill>
                <a:schemeClr val="dk1"/>
              </a:solidFill>
            </a:endParaRPr>
          </a:p>
        </p:txBody>
      </p:sp>
      <p:cxnSp>
        <p:nvCxnSpPr>
          <p:cNvPr id="562" name="Google Shape;562;p69"/>
          <p:cNvCxnSpPr/>
          <p:nvPr/>
        </p:nvCxnSpPr>
        <p:spPr>
          <a:xfrm>
            <a:off x="1532417" y="3687625"/>
            <a:ext cx="24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3" name="Google Shape;563;p69"/>
          <p:cNvSpPr txBox="1"/>
          <p:nvPr>
            <p:ph idx="4294967295" type="body"/>
          </p:nvPr>
        </p:nvSpPr>
        <p:spPr>
          <a:xfrm>
            <a:off x="679613" y="3758948"/>
            <a:ext cx="1947900" cy="1032000"/>
          </a:xfrm>
          <a:prstGeom prst="rect">
            <a:avLst/>
          </a:prstGeom>
        </p:spPr>
        <p:txBody>
          <a:bodyPr anchorCtr="0" anchor="t" bIns="81775" lIns="81775" spcFirstLastPara="1" rIns="81775" wrap="square" tIns="81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3"/>
              <a:t>23M0832</a:t>
            </a:r>
            <a:endParaRPr sz="1163"/>
          </a:p>
        </p:txBody>
      </p:sp>
      <p:pic>
        <p:nvPicPr>
          <p:cNvPr id="564" name="Google Shape;564;p69" title="1746254773266.jpeg"/>
          <p:cNvPicPr preferRelativeResize="0"/>
          <p:nvPr/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3885698" y="1684038"/>
            <a:ext cx="1470900" cy="1470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65" name="Google Shape;565;p69"/>
          <p:cNvSpPr txBox="1"/>
          <p:nvPr>
            <p:ph idx="4294967295" type="body"/>
          </p:nvPr>
        </p:nvSpPr>
        <p:spPr>
          <a:xfrm>
            <a:off x="3639799" y="3282322"/>
            <a:ext cx="1947900" cy="390000"/>
          </a:xfrm>
          <a:prstGeom prst="rect">
            <a:avLst/>
          </a:prstGeom>
        </p:spPr>
        <p:txBody>
          <a:bodyPr anchorCtr="0" anchor="t" bIns="81775" lIns="81775" spcFirstLastPara="1" rIns="81775" wrap="square" tIns="81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21">
                <a:solidFill>
                  <a:schemeClr val="accent2"/>
                </a:solidFill>
              </a:rPr>
              <a:t>Soumik</a:t>
            </a:r>
            <a:r>
              <a:rPr lang="en" sz="1521">
                <a:solidFill>
                  <a:schemeClr val="dk1"/>
                </a:solidFill>
              </a:rPr>
              <a:t> Dutta</a:t>
            </a:r>
            <a:endParaRPr sz="1521">
              <a:solidFill>
                <a:schemeClr val="dk1"/>
              </a:solidFill>
            </a:endParaRPr>
          </a:p>
        </p:txBody>
      </p:sp>
      <p:cxnSp>
        <p:nvCxnSpPr>
          <p:cNvPr id="566" name="Google Shape;566;p69"/>
          <p:cNvCxnSpPr/>
          <p:nvPr/>
        </p:nvCxnSpPr>
        <p:spPr>
          <a:xfrm>
            <a:off x="4492595" y="3687625"/>
            <a:ext cx="24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7" name="Google Shape;567;p69"/>
          <p:cNvSpPr txBox="1"/>
          <p:nvPr>
            <p:ph idx="4294967295" type="body"/>
          </p:nvPr>
        </p:nvSpPr>
        <p:spPr>
          <a:xfrm>
            <a:off x="3639787" y="3758948"/>
            <a:ext cx="1947900" cy="1032000"/>
          </a:xfrm>
          <a:prstGeom prst="rect">
            <a:avLst/>
          </a:prstGeom>
        </p:spPr>
        <p:txBody>
          <a:bodyPr anchorCtr="0" anchor="t" bIns="81775" lIns="81775" spcFirstLastPara="1" rIns="81775" wrap="square" tIns="81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3"/>
              <a:t>23M0826</a:t>
            </a:r>
            <a:endParaRPr sz="1163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3"/>
          </a:p>
        </p:txBody>
      </p:sp>
      <p:pic>
        <p:nvPicPr>
          <p:cNvPr id="568" name="Google Shape;568;p69" title="1718269691547.jpe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9836" y="1683892"/>
            <a:ext cx="1470900" cy="14709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69" name="Google Shape;569;p69"/>
          <p:cNvSpPr txBox="1"/>
          <p:nvPr>
            <p:ph idx="4294967295" type="body"/>
          </p:nvPr>
        </p:nvSpPr>
        <p:spPr>
          <a:xfrm>
            <a:off x="6516478" y="3282322"/>
            <a:ext cx="1947900" cy="390000"/>
          </a:xfrm>
          <a:prstGeom prst="rect">
            <a:avLst/>
          </a:prstGeom>
        </p:spPr>
        <p:txBody>
          <a:bodyPr anchorCtr="0" anchor="t" bIns="81775" lIns="81775" spcFirstLastPara="1" rIns="81775" wrap="square" tIns="81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21">
                <a:solidFill>
                  <a:schemeClr val="accent2"/>
                </a:solidFill>
              </a:rPr>
              <a:t>Jay</a:t>
            </a:r>
            <a:r>
              <a:rPr lang="en" sz="1521">
                <a:solidFill>
                  <a:schemeClr val="dk1"/>
                </a:solidFill>
              </a:rPr>
              <a:t> Gorakhiya</a:t>
            </a:r>
            <a:endParaRPr sz="1521">
              <a:solidFill>
                <a:schemeClr val="dk1"/>
              </a:solidFill>
            </a:endParaRPr>
          </a:p>
        </p:txBody>
      </p:sp>
      <p:cxnSp>
        <p:nvCxnSpPr>
          <p:cNvPr id="570" name="Google Shape;570;p69"/>
          <p:cNvCxnSpPr/>
          <p:nvPr/>
        </p:nvCxnSpPr>
        <p:spPr>
          <a:xfrm>
            <a:off x="7384173" y="3687625"/>
            <a:ext cx="24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1" name="Google Shape;571;p69"/>
          <p:cNvSpPr txBox="1"/>
          <p:nvPr>
            <p:ph idx="4294967295" type="body"/>
          </p:nvPr>
        </p:nvSpPr>
        <p:spPr>
          <a:xfrm>
            <a:off x="6516469" y="3758948"/>
            <a:ext cx="1947900" cy="1032000"/>
          </a:xfrm>
          <a:prstGeom prst="rect">
            <a:avLst/>
          </a:prstGeom>
        </p:spPr>
        <p:txBody>
          <a:bodyPr anchorCtr="0" anchor="t" bIns="81775" lIns="81775" spcFirstLastPara="1" rIns="81775" wrap="square" tIns="81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3"/>
              <a:t>23M0825</a:t>
            </a:r>
            <a:endParaRPr sz="1163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3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Retrospective Presentation">
  <a:themeElements>
    <a:clrScheme name="Simple Light">
      <a:dk1>
        <a:srgbClr val="FFFFFF"/>
      </a:dk1>
      <a:lt1>
        <a:srgbClr val="131313"/>
      </a:lt1>
      <a:dk2>
        <a:srgbClr val="074963"/>
      </a:dk2>
      <a:lt2>
        <a:srgbClr val="313336"/>
      </a:lt2>
      <a:accent1>
        <a:srgbClr val="00FFFF"/>
      </a:accent1>
      <a:accent2>
        <a:srgbClr val="FA6E0B"/>
      </a:accent2>
      <a:accent3>
        <a:srgbClr val="AECDE4"/>
      </a:accent3>
      <a:accent4>
        <a:srgbClr val="7C7C7C"/>
      </a:accent4>
      <a:accent5>
        <a:srgbClr val="A4AAAD"/>
      </a:accent5>
      <a:accent6>
        <a:srgbClr val="0094F1"/>
      </a:accent6>
      <a:hlink>
        <a:srgbClr val="FA6E0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